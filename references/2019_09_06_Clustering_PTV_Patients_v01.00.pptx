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319" r:id="rId4"/>
    <p:sldId id="322" r:id="rId5"/>
    <p:sldId id="320" r:id="rId6"/>
    <p:sldId id="321" r:id="rId7"/>
    <p:sldId id="324" r:id="rId8"/>
    <p:sldId id="323" r:id="rId9"/>
    <p:sldId id="326" r:id="rId10"/>
    <p:sldId id="327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17" autoAdjust="0"/>
  </p:normalViewPr>
  <p:slideViewPr>
    <p:cSldViewPr snapToGrid="0">
      <p:cViewPr varScale="1">
        <p:scale>
          <a:sx n="63" d="100"/>
          <a:sy n="63" d="100"/>
        </p:scale>
        <p:origin x="6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844E97-5693-43AA-9C52-E7D216277D22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393FDB-251C-425E-9B9D-D04524F41A57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PTV patients</a:t>
          </a:r>
        </a:p>
      </dgm:t>
    </dgm:pt>
    <dgm:pt modelId="{6B130D74-7A98-4274-805B-3B04AB0C8D61}" type="parTrans" cxnId="{5C19C0E4-E2DE-40F8-8E75-84A0023B5623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F8E65315-BE31-4BE5-8DA5-F64DF812F9AD}" type="sibTrans" cxnId="{5C19C0E4-E2DE-40F8-8E75-84A0023B5623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B2BD5901-037A-4503-8A0E-50E81F95454D}">
      <dgm:prSet phldrT="[Text]" custT="1"/>
      <dgm:spPr/>
      <dgm:t>
        <a:bodyPr/>
        <a:lstStyle/>
        <a:p>
          <a:r>
            <a:rPr lang="en-US" sz="2100" dirty="0">
              <a:latin typeface="Abadi Extra Light" panose="020B0204020104020204" pitchFamily="34" charset="0"/>
            </a:rPr>
            <a:t>We want to find clusters of similar PTV patients</a:t>
          </a:r>
        </a:p>
      </dgm:t>
    </dgm:pt>
    <dgm:pt modelId="{9456F6D2-B130-4B95-9854-4A86ABC13834}" type="parTrans" cxnId="{DF933EEE-CD9F-4F1A-800F-87024EA4CA03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BD9ED338-D143-4FE0-9B12-D21419FF215B}" type="sibTrans" cxnId="{DF933EEE-CD9F-4F1A-800F-87024EA4CA03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6C53BD2C-0F63-458B-8B10-33A0592FEE48}">
      <dgm:prSet phldrT="[Text]" custT="1"/>
      <dgm:spPr/>
      <dgm:t>
        <a:bodyPr/>
        <a:lstStyle/>
        <a:p>
          <a:r>
            <a:rPr lang="en-US" sz="2100" dirty="0">
              <a:latin typeface="Abadi Extra Light" panose="020B0204020104020204" pitchFamily="34" charset="0"/>
            </a:rPr>
            <a:t>We are also interested in finding correlated pathways  </a:t>
          </a:r>
        </a:p>
      </dgm:t>
    </dgm:pt>
    <dgm:pt modelId="{1B360AA6-6073-488B-A41C-3A0B50B72EEF}" type="parTrans" cxnId="{0852CE4C-CBDF-4093-A673-7A7A8D40FFBC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4619F8D9-3325-4C88-B5FD-488934DD9D3F}" type="sibTrans" cxnId="{0852CE4C-CBDF-4093-A673-7A7A8D40FFBC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C4386C39-FD79-415B-A8CA-8100CD47EE02}">
      <dgm:prSet phldrT="[Text]" custT="1"/>
      <dgm:spPr/>
      <dgm:t>
        <a:bodyPr/>
        <a:lstStyle/>
        <a:p>
          <a:r>
            <a:rPr lang="en-US" sz="2100" dirty="0">
              <a:latin typeface="Abadi Extra Light" panose="020B0204020104020204" pitchFamily="34" charset="0"/>
            </a:rPr>
            <a:t>In the end: we need external validation for these clusters</a:t>
          </a:r>
        </a:p>
      </dgm:t>
    </dgm:pt>
    <dgm:pt modelId="{D8DED52A-4FFF-4F05-A15F-03D99D6D038D}" type="parTrans" cxnId="{46AB0A4A-A844-41A5-8948-6A705507BCF5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7C3801CE-4259-470A-971A-703EF5B3B7B5}" type="sibTrans" cxnId="{46AB0A4A-A844-41A5-8948-6A705507BCF5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76A40977-4BA7-41B8-82B1-3B45395C89E1}" type="pres">
      <dgm:prSet presAssocID="{F8844E97-5693-43AA-9C52-E7D216277D22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8D12A6F-A9F9-4562-A533-7980405C87DC}" type="pres">
      <dgm:prSet presAssocID="{72393FDB-251C-425E-9B9D-D04524F41A57}" presName="Parent" presStyleLbl="node1" presStyleIdx="0" presStyleCnt="2">
        <dgm:presLayoutVars>
          <dgm:chMax val="4"/>
          <dgm:chPref val="3"/>
        </dgm:presLayoutVars>
      </dgm:prSet>
      <dgm:spPr/>
    </dgm:pt>
    <dgm:pt modelId="{71BB651B-3077-47D5-AB84-89710D148462}" type="pres">
      <dgm:prSet presAssocID="{B2BD5901-037A-4503-8A0E-50E81F95454D}" presName="Accent" presStyleLbl="node1" presStyleIdx="1" presStyleCnt="2"/>
      <dgm:spPr/>
    </dgm:pt>
    <dgm:pt modelId="{180E7EC5-3651-4E01-8FFB-203185495588}" type="pres">
      <dgm:prSet presAssocID="{B2BD5901-037A-4503-8A0E-50E81F95454D}" presName="Image1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FE3CAD31-AD20-457A-981C-193E23F14288}" type="pres">
      <dgm:prSet presAssocID="{B2BD5901-037A-4503-8A0E-50E81F95454D}" presName="Child1" presStyleLbl="revTx" presStyleIdx="0" presStyleCnt="3" custScaleX="166626" custLinFactNeighborX="35167" custLinFactNeighborY="-1013">
        <dgm:presLayoutVars>
          <dgm:chMax val="0"/>
          <dgm:chPref val="0"/>
          <dgm:bulletEnabled val="1"/>
        </dgm:presLayoutVars>
      </dgm:prSet>
      <dgm:spPr/>
    </dgm:pt>
    <dgm:pt modelId="{73D6EE18-B5F0-4D8E-BAD9-164DE2CE1FAF}" type="pres">
      <dgm:prSet presAssocID="{6C53BD2C-0F63-458B-8B10-33A0592FEE48}" presName="Image2" presStyleCnt="0"/>
      <dgm:spPr/>
    </dgm:pt>
    <dgm:pt modelId="{A3DE344F-4D8C-4066-A6E4-BDB7A4E69DFE}" type="pres">
      <dgm:prSet presAssocID="{6C53BD2C-0F63-458B-8B10-33A0592FEE48}" presName="Imag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3A9A883-597B-4E4F-BAD4-B8ADE60B2624}" type="pres">
      <dgm:prSet presAssocID="{6C53BD2C-0F63-458B-8B10-33A0592FEE48}" presName="Child2" presStyleLbl="revTx" presStyleIdx="1" presStyleCnt="3" custScaleX="202911" custLinFactNeighborX="54948" custLinFactNeighborY="-1215">
        <dgm:presLayoutVars>
          <dgm:chMax val="0"/>
          <dgm:chPref val="0"/>
          <dgm:bulletEnabled val="1"/>
        </dgm:presLayoutVars>
      </dgm:prSet>
      <dgm:spPr/>
    </dgm:pt>
    <dgm:pt modelId="{F5177371-A3FC-4A5E-B317-421DDEA3AE82}" type="pres">
      <dgm:prSet presAssocID="{C4386C39-FD79-415B-A8CA-8100CD47EE02}" presName="Image3" presStyleCnt="0"/>
      <dgm:spPr/>
    </dgm:pt>
    <dgm:pt modelId="{1654CAA6-9379-4FFA-A55F-47474E85C2E5}" type="pres">
      <dgm:prSet presAssocID="{C4386C39-FD79-415B-A8CA-8100CD47EE02}" presName="Image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31E61005-31BF-4D29-B243-89815CF8F9EC}" type="pres">
      <dgm:prSet presAssocID="{C4386C39-FD79-415B-A8CA-8100CD47EE02}" presName="Child3" presStyleLbl="revTx" presStyleIdx="2" presStyleCnt="3" custScaleX="160141" custLinFactNeighborX="33800" custLinFactNeighborY="-1989">
        <dgm:presLayoutVars>
          <dgm:chMax val="0"/>
          <dgm:chPref val="0"/>
          <dgm:bulletEnabled val="1"/>
        </dgm:presLayoutVars>
      </dgm:prSet>
      <dgm:spPr/>
    </dgm:pt>
  </dgm:ptLst>
  <dgm:cxnLst>
    <dgm:cxn modelId="{E02F6E3B-F1BA-45C6-AF21-4A4D6D16E5ED}" type="presOf" srcId="{B2BD5901-037A-4503-8A0E-50E81F95454D}" destId="{FE3CAD31-AD20-457A-981C-193E23F14288}" srcOrd="0" destOrd="0" presId="urn:microsoft.com/office/officeart/2011/layout/RadialPictureList"/>
    <dgm:cxn modelId="{46AB0A4A-A844-41A5-8948-6A705507BCF5}" srcId="{72393FDB-251C-425E-9B9D-D04524F41A57}" destId="{C4386C39-FD79-415B-A8CA-8100CD47EE02}" srcOrd="2" destOrd="0" parTransId="{D8DED52A-4FFF-4F05-A15F-03D99D6D038D}" sibTransId="{7C3801CE-4259-470A-971A-703EF5B3B7B5}"/>
    <dgm:cxn modelId="{0852CE4C-CBDF-4093-A673-7A7A8D40FFBC}" srcId="{72393FDB-251C-425E-9B9D-D04524F41A57}" destId="{6C53BD2C-0F63-458B-8B10-33A0592FEE48}" srcOrd="1" destOrd="0" parTransId="{1B360AA6-6073-488B-A41C-3A0B50B72EEF}" sibTransId="{4619F8D9-3325-4C88-B5FD-488934DD9D3F}"/>
    <dgm:cxn modelId="{6FAA9E7F-0AD6-4EB2-B331-B6E3FDE61C13}" type="presOf" srcId="{6C53BD2C-0F63-458B-8B10-33A0592FEE48}" destId="{A3A9A883-597B-4E4F-BAD4-B8ADE60B2624}" srcOrd="0" destOrd="0" presId="urn:microsoft.com/office/officeart/2011/layout/RadialPictureList"/>
    <dgm:cxn modelId="{C52A1F81-F719-41F7-97BD-27A05807CF9E}" type="presOf" srcId="{C4386C39-FD79-415B-A8CA-8100CD47EE02}" destId="{31E61005-31BF-4D29-B243-89815CF8F9EC}" srcOrd="0" destOrd="0" presId="urn:microsoft.com/office/officeart/2011/layout/RadialPictureList"/>
    <dgm:cxn modelId="{BD72A098-F694-4EDD-B8BE-F28CCFCE0B70}" type="presOf" srcId="{72393FDB-251C-425E-9B9D-D04524F41A57}" destId="{C8D12A6F-A9F9-4562-A533-7980405C87DC}" srcOrd="0" destOrd="0" presId="urn:microsoft.com/office/officeart/2011/layout/RadialPictureList"/>
    <dgm:cxn modelId="{E38430A4-086E-4CB1-8C26-60E447D1354D}" type="presOf" srcId="{F8844E97-5693-43AA-9C52-E7D216277D22}" destId="{76A40977-4BA7-41B8-82B1-3B45395C89E1}" srcOrd="0" destOrd="0" presId="urn:microsoft.com/office/officeart/2011/layout/RadialPictureList"/>
    <dgm:cxn modelId="{5C19C0E4-E2DE-40F8-8E75-84A0023B5623}" srcId="{F8844E97-5693-43AA-9C52-E7D216277D22}" destId="{72393FDB-251C-425E-9B9D-D04524F41A57}" srcOrd="0" destOrd="0" parTransId="{6B130D74-7A98-4274-805B-3B04AB0C8D61}" sibTransId="{F8E65315-BE31-4BE5-8DA5-F64DF812F9AD}"/>
    <dgm:cxn modelId="{DF933EEE-CD9F-4F1A-800F-87024EA4CA03}" srcId="{72393FDB-251C-425E-9B9D-D04524F41A57}" destId="{B2BD5901-037A-4503-8A0E-50E81F95454D}" srcOrd="0" destOrd="0" parTransId="{9456F6D2-B130-4B95-9854-4A86ABC13834}" sibTransId="{BD9ED338-D143-4FE0-9B12-D21419FF215B}"/>
    <dgm:cxn modelId="{0ED72E7D-A5CC-4DCB-A526-95F4518B3E3D}" type="presParOf" srcId="{76A40977-4BA7-41B8-82B1-3B45395C89E1}" destId="{C8D12A6F-A9F9-4562-A533-7980405C87DC}" srcOrd="0" destOrd="0" presId="urn:microsoft.com/office/officeart/2011/layout/RadialPictureList"/>
    <dgm:cxn modelId="{D0B851C8-53D9-4FE3-8812-537D99D65599}" type="presParOf" srcId="{76A40977-4BA7-41B8-82B1-3B45395C89E1}" destId="{71BB651B-3077-47D5-AB84-89710D148462}" srcOrd="1" destOrd="0" presId="urn:microsoft.com/office/officeart/2011/layout/RadialPictureList"/>
    <dgm:cxn modelId="{756B15FC-36AB-4AB4-BA88-A90E0B2F9B98}" type="presParOf" srcId="{76A40977-4BA7-41B8-82B1-3B45395C89E1}" destId="{180E7EC5-3651-4E01-8FFB-203185495588}" srcOrd="2" destOrd="0" presId="urn:microsoft.com/office/officeart/2011/layout/RadialPictureList"/>
    <dgm:cxn modelId="{25328556-9413-4D1B-8BCD-88ECC0F7D63D}" type="presParOf" srcId="{76A40977-4BA7-41B8-82B1-3B45395C89E1}" destId="{FE3CAD31-AD20-457A-981C-193E23F14288}" srcOrd="3" destOrd="0" presId="urn:microsoft.com/office/officeart/2011/layout/RadialPictureList"/>
    <dgm:cxn modelId="{26EB1E3D-CDF0-4E08-BC14-0199F8EBB208}" type="presParOf" srcId="{76A40977-4BA7-41B8-82B1-3B45395C89E1}" destId="{73D6EE18-B5F0-4D8E-BAD9-164DE2CE1FAF}" srcOrd="4" destOrd="0" presId="urn:microsoft.com/office/officeart/2011/layout/RadialPictureList"/>
    <dgm:cxn modelId="{6490DFEE-40FC-426B-9315-742ADA0C01C2}" type="presParOf" srcId="{73D6EE18-B5F0-4D8E-BAD9-164DE2CE1FAF}" destId="{A3DE344F-4D8C-4066-A6E4-BDB7A4E69DFE}" srcOrd="0" destOrd="0" presId="urn:microsoft.com/office/officeart/2011/layout/RadialPictureList"/>
    <dgm:cxn modelId="{B2D292FC-F0A8-4B6F-9D3E-B9EBD3E030B6}" type="presParOf" srcId="{76A40977-4BA7-41B8-82B1-3B45395C89E1}" destId="{A3A9A883-597B-4E4F-BAD4-B8ADE60B2624}" srcOrd="5" destOrd="0" presId="urn:microsoft.com/office/officeart/2011/layout/RadialPictureList"/>
    <dgm:cxn modelId="{5EF4D126-C79B-4805-B673-8A1A994FAA79}" type="presParOf" srcId="{76A40977-4BA7-41B8-82B1-3B45395C89E1}" destId="{F5177371-A3FC-4A5E-B317-421DDEA3AE82}" srcOrd="6" destOrd="0" presId="urn:microsoft.com/office/officeart/2011/layout/RadialPictureList"/>
    <dgm:cxn modelId="{365046E0-734F-4849-9E21-C025A885C7FF}" type="presParOf" srcId="{F5177371-A3FC-4A5E-B317-421DDEA3AE82}" destId="{1654CAA6-9379-4FFA-A55F-47474E85C2E5}" srcOrd="0" destOrd="0" presId="urn:microsoft.com/office/officeart/2011/layout/RadialPictureList"/>
    <dgm:cxn modelId="{0C75B439-3E01-478C-A8DE-B0425A6B8C74}" type="presParOf" srcId="{76A40977-4BA7-41B8-82B1-3B45395C89E1}" destId="{31E61005-31BF-4D29-B243-89815CF8F9EC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A1E269-1A5B-4EBD-946B-8C1A9765AD9B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5" csCatId="accent1" phldr="1"/>
      <dgm:spPr/>
    </dgm:pt>
    <dgm:pt modelId="{2192F168-DA79-40E5-9E79-C2CA040EFD4A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Compute similarity between patients</a:t>
          </a:r>
        </a:p>
      </dgm:t>
    </dgm:pt>
    <dgm:pt modelId="{419E1A98-EE1E-4684-BA91-63FEBE57D32C}" type="parTrans" cxnId="{B69ABC41-981A-4B78-B642-37E545BAF87B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4D797267-522D-4401-BD17-1B7EA6196D67}" type="sibTrans" cxnId="{B69ABC41-981A-4B78-B642-37E545BAF87B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9935BD42-F440-4781-88C0-1F32C612D16D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Compute distance matrix for patients</a:t>
          </a:r>
        </a:p>
      </dgm:t>
    </dgm:pt>
    <dgm:pt modelId="{55A41C14-417B-495C-B82A-67BACBDC128A}" type="parTrans" cxnId="{12ADD402-92FF-411B-BB3B-7E69F03EF9FD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F132D363-5949-4F00-BB69-E24082AD8936}" type="sibTrans" cxnId="{12ADD402-92FF-411B-BB3B-7E69F03EF9FD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3549BA2A-C761-486E-833C-FE7227F8E38A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Apply hierarchical clustering</a:t>
          </a:r>
        </a:p>
      </dgm:t>
    </dgm:pt>
    <dgm:pt modelId="{F97D6032-E331-4242-8FB6-0AAE89197D3E}" type="parTrans" cxnId="{589B0B8A-7164-4AE4-904C-033A874376B4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B8806152-6ADC-4FC2-9116-1F298FB1AC1D}" type="sibTrans" cxnId="{589B0B8A-7164-4AE4-904C-033A874376B4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6EBAE18E-B395-40C3-A59B-E78DCC25767B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Validate clusters</a:t>
          </a:r>
        </a:p>
      </dgm:t>
    </dgm:pt>
    <dgm:pt modelId="{FB56F0D1-336C-4E3A-9264-44873F1B5E81}" type="parTrans" cxnId="{073ED335-E684-4258-99B9-21D8AE526D40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5B4FED58-8DA8-4B24-8B54-720E66C32F86}" type="sibTrans" cxnId="{073ED335-E684-4258-99B9-21D8AE526D40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8732D22F-8142-4B2B-8005-473F7B456541}" type="pres">
      <dgm:prSet presAssocID="{AFA1E269-1A5B-4EBD-946B-8C1A9765AD9B}" presName="Name0" presStyleCnt="0">
        <dgm:presLayoutVars>
          <dgm:dir/>
          <dgm:resizeHandles val="exact"/>
        </dgm:presLayoutVars>
      </dgm:prSet>
      <dgm:spPr/>
    </dgm:pt>
    <dgm:pt modelId="{671FD81F-D3F5-4380-9EE2-DF73CD6A3ADF}" type="pres">
      <dgm:prSet presAssocID="{2192F168-DA79-40E5-9E79-C2CA040EFD4A}" presName="composite" presStyleCnt="0"/>
      <dgm:spPr/>
    </dgm:pt>
    <dgm:pt modelId="{A6D8B001-93D2-4D11-90CE-8C31314440C9}" type="pres">
      <dgm:prSet presAssocID="{2192F168-DA79-40E5-9E79-C2CA040EFD4A}" presName="bgChev" presStyleLbl="node1" presStyleIdx="0" presStyleCnt="4"/>
      <dgm:spPr/>
    </dgm:pt>
    <dgm:pt modelId="{41628ED0-FB77-492F-A665-D5A1FAB0CAD0}" type="pres">
      <dgm:prSet presAssocID="{2192F168-DA79-40E5-9E79-C2CA040EFD4A}" presName="txNode" presStyleLbl="fgAcc1" presStyleIdx="0" presStyleCnt="4">
        <dgm:presLayoutVars>
          <dgm:bulletEnabled val="1"/>
        </dgm:presLayoutVars>
      </dgm:prSet>
      <dgm:spPr/>
    </dgm:pt>
    <dgm:pt modelId="{20989404-4BC7-4C82-B30C-6A5D7D9A62B9}" type="pres">
      <dgm:prSet presAssocID="{4D797267-522D-4401-BD17-1B7EA6196D67}" presName="compositeSpace" presStyleCnt="0"/>
      <dgm:spPr/>
    </dgm:pt>
    <dgm:pt modelId="{01768627-185A-490E-AFF8-B065D837ADC9}" type="pres">
      <dgm:prSet presAssocID="{9935BD42-F440-4781-88C0-1F32C612D16D}" presName="composite" presStyleCnt="0"/>
      <dgm:spPr/>
    </dgm:pt>
    <dgm:pt modelId="{345EA668-34E3-4761-9235-8F70A0362D88}" type="pres">
      <dgm:prSet presAssocID="{9935BD42-F440-4781-88C0-1F32C612D16D}" presName="bgChev" presStyleLbl="node1" presStyleIdx="1" presStyleCnt="4"/>
      <dgm:spPr/>
    </dgm:pt>
    <dgm:pt modelId="{03BCC2DB-C8A2-47A5-98FA-C68B2AC51B2B}" type="pres">
      <dgm:prSet presAssocID="{9935BD42-F440-4781-88C0-1F32C612D16D}" presName="txNode" presStyleLbl="fgAcc1" presStyleIdx="1" presStyleCnt="4">
        <dgm:presLayoutVars>
          <dgm:bulletEnabled val="1"/>
        </dgm:presLayoutVars>
      </dgm:prSet>
      <dgm:spPr/>
    </dgm:pt>
    <dgm:pt modelId="{AB245CF0-D50C-4EBE-BF34-22C394767678}" type="pres">
      <dgm:prSet presAssocID="{F132D363-5949-4F00-BB69-E24082AD8936}" presName="compositeSpace" presStyleCnt="0"/>
      <dgm:spPr/>
    </dgm:pt>
    <dgm:pt modelId="{6E386D50-4CFE-4012-9FD5-970AFADB3F0C}" type="pres">
      <dgm:prSet presAssocID="{3549BA2A-C761-486E-833C-FE7227F8E38A}" presName="composite" presStyleCnt="0"/>
      <dgm:spPr/>
    </dgm:pt>
    <dgm:pt modelId="{5C3B4377-B53E-41E7-B337-FA1992E1CB1F}" type="pres">
      <dgm:prSet presAssocID="{3549BA2A-C761-486E-833C-FE7227F8E38A}" presName="bgChev" presStyleLbl="node1" presStyleIdx="2" presStyleCnt="4"/>
      <dgm:spPr/>
    </dgm:pt>
    <dgm:pt modelId="{F6626D31-32D7-490F-9B0D-909DE6A2F2AE}" type="pres">
      <dgm:prSet presAssocID="{3549BA2A-C761-486E-833C-FE7227F8E38A}" presName="txNode" presStyleLbl="fgAcc1" presStyleIdx="2" presStyleCnt="4">
        <dgm:presLayoutVars>
          <dgm:bulletEnabled val="1"/>
        </dgm:presLayoutVars>
      </dgm:prSet>
      <dgm:spPr/>
    </dgm:pt>
    <dgm:pt modelId="{76FF6B0A-32E2-4D62-A682-D21FA728ACEA}" type="pres">
      <dgm:prSet presAssocID="{B8806152-6ADC-4FC2-9116-1F298FB1AC1D}" presName="compositeSpace" presStyleCnt="0"/>
      <dgm:spPr/>
    </dgm:pt>
    <dgm:pt modelId="{06CF8AEE-9A69-4691-88B2-CA059CADE44C}" type="pres">
      <dgm:prSet presAssocID="{6EBAE18E-B395-40C3-A59B-E78DCC25767B}" presName="composite" presStyleCnt="0"/>
      <dgm:spPr/>
    </dgm:pt>
    <dgm:pt modelId="{FF49E20E-18CB-4758-8743-328B05EC8D18}" type="pres">
      <dgm:prSet presAssocID="{6EBAE18E-B395-40C3-A59B-E78DCC25767B}" presName="bgChev" presStyleLbl="node1" presStyleIdx="3" presStyleCnt="4"/>
      <dgm:spPr/>
    </dgm:pt>
    <dgm:pt modelId="{27431C6F-D002-46B6-9726-C27E015344B2}" type="pres">
      <dgm:prSet presAssocID="{6EBAE18E-B395-40C3-A59B-E78DCC25767B}" presName="txNode" presStyleLbl="fgAcc1" presStyleIdx="3" presStyleCnt="4">
        <dgm:presLayoutVars>
          <dgm:bulletEnabled val="1"/>
        </dgm:presLayoutVars>
      </dgm:prSet>
      <dgm:spPr/>
    </dgm:pt>
  </dgm:ptLst>
  <dgm:cxnLst>
    <dgm:cxn modelId="{12ADD402-92FF-411B-BB3B-7E69F03EF9FD}" srcId="{AFA1E269-1A5B-4EBD-946B-8C1A9765AD9B}" destId="{9935BD42-F440-4781-88C0-1F32C612D16D}" srcOrd="1" destOrd="0" parTransId="{55A41C14-417B-495C-B82A-67BACBDC128A}" sibTransId="{F132D363-5949-4F00-BB69-E24082AD8936}"/>
    <dgm:cxn modelId="{636E860C-8D98-4D8B-8B0F-3632AB315186}" type="presOf" srcId="{2192F168-DA79-40E5-9E79-C2CA040EFD4A}" destId="{41628ED0-FB77-492F-A665-D5A1FAB0CAD0}" srcOrd="0" destOrd="0" presId="urn:microsoft.com/office/officeart/2005/8/layout/chevronAccent+Icon"/>
    <dgm:cxn modelId="{BC7B3F34-8845-4F58-B632-4C49C1E5EF20}" type="presOf" srcId="{9935BD42-F440-4781-88C0-1F32C612D16D}" destId="{03BCC2DB-C8A2-47A5-98FA-C68B2AC51B2B}" srcOrd="0" destOrd="0" presId="urn:microsoft.com/office/officeart/2005/8/layout/chevronAccent+Icon"/>
    <dgm:cxn modelId="{073ED335-E684-4258-99B9-21D8AE526D40}" srcId="{AFA1E269-1A5B-4EBD-946B-8C1A9765AD9B}" destId="{6EBAE18E-B395-40C3-A59B-E78DCC25767B}" srcOrd="3" destOrd="0" parTransId="{FB56F0D1-336C-4E3A-9264-44873F1B5E81}" sibTransId="{5B4FED58-8DA8-4B24-8B54-720E66C32F86}"/>
    <dgm:cxn modelId="{B69ABC41-981A-4B78-B642-37E545BAF87B}" srcId="{AFA1E269-1A5B-4EBD-946B-8C1A9765AD9B}" destId="{2192F168-DA79-40E5-9E79-C2CA040EFD4A}" srcOrd="0" destOrd="0" parTransId="{419E1A98-EE1E-4684-BA91-63FEBE57D32C}" sibTransId="{4D797267-522D-4401-BD17-1B7EA6196D67}"/>
    <dgm:cxn modelId="{C2D51D44-1201-4D06-B94F-BDDD82BAD0B1}" type="presOf" srcId="{3549BA2A-C761-486E-833C-FE7227F8E38A}" destId="{F6626D31-32D7-490F-9B0D-909DE6A2F2AE}" srcOrd="0" destOrd="0" presId="urn:microsoft.com/office/officeart/2005/8/layout/chevronAccent+Icon"/>
    <dgm:cxn modelId="{589B0B8A-7164-4AE4-904C-033A874376B4}" srcId="{AFA1E269-1A5B-4EBD-946B-8C1A9765AD9B}" destId="{3549BA2A-C761-486E-833C-FE7227F8E38A}" srcOrd="2" destOrd="0" parTransId="{F97D6032-E331-4242-8FB6-0AAE89197D3E}" sibTransId="{B8806152-6ADC-4FC2-9116-1F298FB1AC1D}"/>
    <dgm:cxn modelId="{924D328C-D66D-4C80-814F-396803769B6C}" type="presOf" srcId="{AFA1E269-1A5B-4EBD-946B-8C1A9765AD9B}" destId="{8732D22F-8142-4B2B-8005-473F7B456541}" srcOrd="0" destOrd="0" presId="urn:microsoft.com/office/officeart/2005/8/layout/chevronAccent+Icon"/>
    <dgm:cxn modelId="{69FCB69E-8604-4756-B13A-23C833253B8D}" type="presOf" srcId="{6EBAE18E-B395-40C3-A59B-E78DCC25767B}" destId="{27431C6F-D002-46B6-9726-C27E015344B2}" srcOrd="0" destOrd="0" presId="urn:microsoft.com/office/officeart/2005/8/layout/chevronAccent+Icon"/>
    <dgm:cxn modelId="{6B67535C-90B9-41FB-8612-53A45A8D4388}" type="presParOf" srcId="{8732D22F-8142-4B2B-8005-473F7B456541}" destId="{671FD81F-D3F5-4380-9EE2-DF73CD6A3ADF}" srcOrd="0" destOrd="0" presId="urn:microsoft.com/office/officeart/2005/8/layout/chevronAccent+Icon"/>
    <dgm:cxn modelId="{E326A226-8E9C-4578-960A-B9FD0EC9E0F5}" type="presParOf" srcId="{671FD81F-D3F5-4380-9EE2-DF73CD6A3ADF}" destId="{A6D8B001-93D2-4D11-90CE-8C31314440C9}" srcOrd="0" destOrd="0" presId="urn:microsoft.com/office/officeart/2005/8/layout/chevronAccent+Icon"/>
    <dgm:cxn modelId="{9C4ACEA2-0D7E-4973-AE5B-03E121693B5F}" type="presParOf" srcId="{671FD81F-D3F5-4380-9EE2-DF73CD6A3ADF}" destId="{41628ED0-FB77-492F-A665-D5A1FAB0CAD0}" srcOrd="1" destOrd="0" presId="urn:microsoft.com/office/officeart/2005/8/layout/chevronAccent+Icon"/>
    <dgm:cxn modelId="{DAE23845-15C4-4487-847B-466C48CE361D}" type="presParOf" srcId="{8732D22F-8142-4B2B-8005-473F7B456541}" destId="{20989404-4BC7-4C82-B30C-6A5D7D9A62B9}" srcOrd="1" destOrd="0" presId="urn:microsoft.com/office/officeart/2005/8/layout/chevronAccent+Icon"/>
    <dgm:cxn modelId="{44E75373-1367-4CD4-945E-2E3F2DD28D9D}" type="presParOf" srcId="{8732D22F-8142-4B2B-8005-473F7B456541}" destId="{01768627-185A-490E-AFF8-B065D837ADC9}" srcOrd="2" destOrd="0" presId="urn:microsoft.com/office/officeart/2005/8/layout/chevronAccent+Icon"/>
    <dgm:cxn modelId="{CB48EA0C-721C-4516-9C97-0E716BD9ED7F}" type="presParOf" srcId="{01768627-185A-490E-AFF8-B065D837ADC9}" destId="{345EA668-34E3-4761-9235-8F70A0362D88}" srcOrd="0" destOrd="0" presId="urn:microsoft.com/office/officeart/2005/8/layout/chevronAccent+Icon"/>
    <dgm:cxn modelId="{98C1A0F9-1B78-4200-9609-8177AE778A8F}" type="presParOf" srcId="{01768627-185A-490E-AFF8-B065D837ADC9}" destId="{03BCC2DB-C8A2-47A5-98FA-C68B2AC51B2B}" srcOrd="1" destOrd="0" presId="urn:microsoft.com/office/officeart/2005/8/layout/chevronAccent+Icon"/>
    <dgm:cxn modelId="{D9F123FA-0FCA-4E42-AE12-749FC9EFFD27}" type="presParOf" srcId="{8732D22F-8142-4B2B-8005-473F7B456541}" destId="{AB245CF0-D50C-4EBE-BF34-22C394767678}" srcOrd="3" destOrd="0" presId="urn:microsoft.com/office/officeart/2005/8/layout/chevronAccent+Icon"/>
    <dgm:cxn modelId="{DB7A5ADD-07F4-4273-A3AC-31B346E21B4E}" type="presParOf" srcId="{8732D22F-8142-4B2B-8005-473F7B456541}" destId="{6E386D50-4CFE-4012-9FD5-970AFADB3F0C}" srcOrd="4" destOrd="0" presId="urn:microsoft.com/office/officeart/2005/8/layout/chevronAccent+Icon"/>
    <dgm:cxn modelId="{1AF134A0-86C1-4113-8873-035D32EE24D7}" type="presParOf" srcId="{6E386D50-4CFE-4012-9FD5-970AFADB3F0C}" destId="{5C3B4377-B53E-41E7-B337-FA1992E1CB1F}" srcOrd="0" destOrd="0" presId="urn:microsoft.com/office/officeart/2005/8/layout/chevronAccent+Icon"/>
    <dgm:cxn modelId="{6F440026-6483-494C-93E7-139980CC6FDF}" type="presParOf" srcId="{6E386D50-4CFE-4012-9FD5-970AFADB3F0C}" destId="{F6626D31-32D7-490F-9B0D-909DE6A2F2AE}" srcOrd="1" destOrd="0" presId="urn:microsoft.com/office/officeart/2005/8/layout/chevronAccent+Icon"/>
    <dgm:cxn modelId="{B91312B1-C372-4ABA-836A-3280A748A43C}" type="presParOf" srcId="{8732D22F-8142-4B2B-8005-473F7B456541}" destId="{76FF6B0A-32E2-4D62-A682-D21FA728ACEA}" srcOrd="5" destOrd="0" presId="urn:microsoft.com/office/officeart/2005/8/layout/chevronAccent+Icon"/>
    <dgm:cxn modelId="{6D869FDD-A0C3-49A6-B861-41DB57A8A64E}" type="presParOf" srcId="{8732D22F-8142-4B2B-8005-473F7B456541}" destId="{06CF8AEE-9A69-4691-88B2-CA059CADE44C}" srcOrd="6" destOrd="0" presId="urn:microsoft.com/office/officeart/2005/8/layout/chevronAccent+Icon"/>
    <dgm:cxn modelId="{88BC719B-6E49-49B5-80C5-E0D9317B60F6}" type="presParOf" srcId="{06CF8AEE-9A69-4691-88B2-CA059CADE44C}" destId="{FF49E20E-18CB-4758-8743-328B05EC8D18}" srcOrd="0" destOrd="0" presId="urn:microsoft.com/office/officeart/2005/8/layout/chevronAccent+Icon"/>
    <dgm:cxn modelId="{4E58AB0A-E62C-47F7-95E3-4F601094AD26}" type="presParOf" srcId="{06CF8AEE-9A69-4691-88B2-CA059CADE44C}" destId="{27431C6F-D002-46B6-9726-C27E015344B2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A1E269-1A5B-4EBD-946B-8C1A9765AD9B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2_1" csCatId="accent2" phldr="1"/>
      <dgm:spPr/>
    </dgm:pt>
    <dgm:pt modelId="{2192F168-DA79-40E5-9E79-C2CA040EFD4A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Compute correlation between pathways</a:t>
          </a:r>
        </a:p>
      </dgm:t>
    </dgm:pt>
    <dgm:pt modelId="{419E1A98-EE1E-4684-BA91-63FEBE57D32C}" type="parTrans" cxnId="{B69ABC41-981A-4B78-B642-37E545BAF87B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4D797267-522D-4401-BD17-1B7EA6196D67}" type="sibTrans" cxnId="{B69ABC41-981A-4B78-B642-37E545BAF87B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9935BD42-F440-4781-88C0-1F32C612D16D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Compute similarity between pathways</a:t>
          </a:r>
        </a:p>
      </dgm:t>
    </dgm:pt>
    <dgm:pt modelId="{55A41C14-417B-495C-B82A-67BACBDC128A}" type="parTrans" cxnId="{12ADD402-92FF-411B-BB3B-7E69F03EF9FD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F132D363-5949-4F00-BB69-E24082AD8936}" type="sibTrans" cxnId="{12ADD402-92FF-411B-BB3B-7E69F03EF9FD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3549BA2A-C761-486E-833C-FE7227F8E38A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Apply hierarchical clustering</a:t>
          </a:r>
        </a:p>
      </dgm:t>
    </dgm:pt>
    <dgm:pt modelId="{F97D6032-E331-4242-8FB6-0AAE89197D3E}" type="parTrans" cxnId="{589B0B8A-7164-4AE4-904C-033A874376B4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B8806152-6ADC-4FC2-9116-1F298FB1AC1D}" type="sibTrans" cxnId="{589B0B8A-7164-4AE4-904C-033A874376B4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6EBAE18E-B395-40C3-A59B-E78DCC25767B}">
      <dgm:prSet phldrT="[Text]"/>
      <dgm:spPr/>
      <dgm:t>
        <a:bodyPr/>
        <a:lstStyle/>
        <a:p>
          <a:r>
            <a:rPr lang="en-US" dirty="0">
              <a:latin typeface="Abadi Extra Light" panose="020B0204020104020204" pitchFamily="34" charset="0"/>
            </a:rPr>
            <a:t>Validate results</a:t>
          </a:r>
        </a:p>
      </dgm:t>
    </dgm:pt>
    <dgm:pt modelId="{FB56F0D1-336C-4E3A-9264-44873F1B5E81}" type="parTrans" cxnId="{073ED335-E684-4258-99B9-21D8AE526D40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5B4FED58-8DA8-4B24-8B54-720E66C32F86}" type="sibTrans" cxnId="{073ED335-E684-4258-99B9-21D8AE526D40}">
      <dgm:prSet/>
      <dgm:spPr/>
      <dgm:t>
        <a:bodyPr/>
        <a:lstStyle/>
        <a:p>
          <a:endParaRPr lang="en-US">
            <a:latin typeface="Abadi Extra Light" panose="020B0204020104020204" pitchFamily="34" charset="0"/>
          </a:endParaRPr>
        </a:p>
      </dgm:t>
    </dgm:pt>
    <dgm:pt modelId="{8732D22F-8142-4B2B-8005-473F7B456541}" type="pres">
      <dgm:prSet presAssocID="{AFA1E269-1A5B-4EBD-946B-8C1A9765AD9B}" presName="Name0" presStyleCnt="0">
        <dgm:presLayoutVars>
          <dgm:dir/>
          <dgm:resizeHandles val="exact"/>
        </dgm:presLayoutVars>
      </dgm:prSet>
      <dgm:spPr/>
    </dgm:pt>
    <dgm:pt modelId="{671FD81F-D3F5-4380-9EE2-DF73CD6A3ADF}" type="pres">
      <dgm:prSet presAssocID="{2192F168-DA79-40E5-9E79-C2CA040EFD4A}" presName="composite" presStyleCnt="0"/>
      <dgm:spPr/>
    </dgm:pt>
    <dgm:pt modelId="{A6D8B001-93D2-4D11-90CE-8C31314440C9}" type="pres">
      <dgm:prSet presAssocID="{2192F168-DA79-40E5-9E79-C2CA040EFD4A}" presName="bgChev" presStyleLbl="node1" presStyleIdx="0" presStyleCnt="4"/>
      <dgm:spPr/>
    </dgm:pt>
    <dgm:pt modelId="{41628ED0-FB77-492F-A665-D5A1FAB0CAD0}" type="pres">
      <dgm:prSet presAssocID="{2192F168-DA79-40E5-9E79-C2CA040EFD4A}" presName="txNode" presStyleLbl="fgAcc1" presStyleIdx="0" presStyleCnt="4">
        <dgm:presLayoutVars>
          <dgm:bulletEnabled val="1"/>
        </dgm:presLayoutVars>
      </dgm:prSet>
      <dgm:spPr/>
    </dgm:pt>
    <dgm:pt modelId="{20989404-4BC7-4C82-B30C-6A5D7D9A62B9}" type="pres">
      <dgm:prSet presAssocID="{4D797267-522D-4401-BD17-1B7EA6196D67}" presName="compositeSpace" presStyleCnt="0"/>
      <dgm:spPr/>
    </dgm:pt>
    <dgm:pt modelId="{01768627-185A-490E-AFF8-B065D837ADC9}" type="pres">
      <dgm:prSet presAssocID="{9935BD42-F440-4781-88C0-1F32C612D16D}" presName="composite" presStyleCnt="0"/>
      <dgm:spPr/>
    </dgm:pt>
    <dgm:pt modelId="{345EA668-34E3-4761-9235-8F70A0362D88}" type="pres">
      <dgm:prSet presAssocID="{9935BD42-F440-4781-88C0-1F32C612D16D}" presName="bgChev" presStyleLbl="node1" presStyleIdx="1" presStyleCnt="4"/>
      <dgm:spPr/>
    </dgm:pt>
    <dgm:pt modelId="{03BCC2DB-C8A2-47A5-98FA-C68B2AC51B2B}" type="pres">
      <dgm:prSet presAssocID="{9935BD42-F440-4781-88C0-1F32C612D16D}" presName="txNode" presStyleLbl="fgAcc1" presStyleIdx="1" presStyleCnt="4">
        <dgm:presLayoutVars>
          <dgm:bulletEnabled val="1"/>
        </dgm:presLayoutVars>
      </dgm:prSet>
      <dgm:spPr/>
    </dgm:pt>
    <dgm:pt modelId="{AB245CF0-D50C-4EBE-BF34-22C394767678}" type="pres">
      <dgm:prSet presAssocID="{F132D363-5949-4F00-BB69-E24082AD8936}" presName="compositeSpace" presStyleCnt="0"/>
      <dgm:spPr/>
    </dgm:pt>
    <dgm:pt modelId="{6E386D50-4CFE-4012-9FD5-970AFADB3F0C}" type="pres">
      <dgm:prSet presAssocID="{3549BA2A-C761-486E-833C-FE7227F8E38A}" presName="composite" presStyleCnt="0"/>
      <dgm:spPr/>
    </dgm:pt>
    <dgm:pt modelId="{5C3B4377-B53E-41E7-B337-FA1992E1CB1F}" type="pres">
      <dgm:prSet presAssocID="{3549BA2A-C761-486E-833C-FE7227F8E38A}" presName="bgChev" presStyleLbl="node1" presStyleIdx="2" presStyleCnt="4"/>
      <dgm:spPr/>
    </dgm:pt>
    <dgm:pt modelId="{F6626D31-32D7-490F-9B0D-909DE6A2F2AE}" type="pres">
      <dgm:prSet presAssocID="{3549BA2A-C761-486E-833C-FE7227F8E38A}" presName="txNode" presStyleLbl="fgAcc1" presStyleIdx="2" presStyleCnt="4">
        <dgm:presLayoutVars>
          <dgm:bulletEnabled val="1"/>
        </dgm:presLayoutVars>
      </dgm:prSet>
      <dgm:spPr/>
    </dgm:pt>
    <dgm:pt modelId="{76FF6B0A-32E2-4D62-A682-D21FA728ACEA}" type="pres">
      <dgm:prSet presAssocID="{B8806152-6ADC-4FC2-9116-1F298FB1AC1D}" presName="compositeSpace" presStyleCnt="0"/>
      <dgm:spPr/>
    </dgm:pt>
    <dgm:pt modelId="{06CF8AEE-9A69-4691-88B2-CA059CADE44C}" type="pres">
      <dgm:prSet presAssocID="{6EBAE18E-B395-40C3-A59B-E78DCC25767B}" presName="composite" presStyleCnt="0"/>
      <dgm:spPr/>
    </dgm:pt>
    <dgm:pt modelId="{FF49E20E-18CB-4758-8743-328B05EC8D18}" type="pres">
      <dgm:prSet presAssocID="{6EBAE18E-B395-40C3-A59B-E78DCC25767B}" presName="bgChev" presStyleLbl="node1" presStyleIdx="3" presStyleCnt="4"/>
      <dgm:spPr/>
    </dgm:pt>
    <dgm:pt modelId="{27431C6F-D002-46B6-9726-C27E015344B2}" type="pres">
      <dgm:prSet presAssocID="{6EBAE18E-B395-40C3-A59B-E78DCC25767B}" presName="txNode" presStyleLbl="fgAcc1" presStyleIdx="3" presStyleCnt="4">
        <dgm:presLayoutVars>
          <dgm:bulletEnabled val="1"/>
        </dgm:presLayoutVars>
      </dgm:prSet>
      <dgm:spPr/>
    </dgm:pt>
  </dgm:ptLst>
  <dgm:cxnLst>
    <dgm:cxn modelId="{12ADD402-92FF-411B-BB3B-7E69F03EF9FD}" srcId="{AFA1E269-1A5B-4EBD-946B-8C1A9765AD9B}" destId="{9935BD42-F440-4781-88C0-1F32C612D16D}" srcOrd="1" destOrd="0" parTransId="{55A41C14-417B-495C-B82A-67BACBDC128A}" sibTransId="{F132D363-5949-4F00-BB69-E24082AD8936}"/>
    <dgm:cxn modelId="{636E860C-8D98-4D8B-8B0F-3632AB315186}" type="presOf" srcId="{2192F168-DA79-40E5-9E79-C2CA040EFD4A}" destId="{41628ED0-FB77-492F-A665-D5A1FAB0CAD0}" srcOrd="0" destOrd="0" presId="urn:microsoft.com/office/officeart/2005/8/layout/chevronAccent+Icon"/>
    <dgm:cxn modelId="{BC7B3F34-8845-4F58-B632-4C49C1E5EF20}" type="presOf" srcId="{9935BD42-F440-4781-88C0-1F32C612D16D}" destId="{03BCC2DB-C8A2-47A5-98FA-C68B2AC51B2B}" srcOrd="0" destOrd="0" presId="urn:microsoft.com/office/officeart/2005/8/layout/chevronAccent+Icon"/>
    <dgm:cxn modelId="{073ED335-E684-4258-99B9-21D8AE526D40}" srcId="{AFA1E269-1A5B-4EBD-946B-8C1A9765AD9B}" destId="{6EBAE18E-B395-40C3-A59B-E78DCC25767B}" srcOrd="3" destOrd="0" parTransId="{FB56F0D1-336C-4E3A-9264-44873F1B5E81}" sibTransId="{5B4FED58-8DA8-4B24-8B54-720E66C32F86}"/>
    <dgm:cxn modelId="{B69ABC41-981A-4B78-B642-37E545BAF87B}" srcId="{AFA1E269-1A5B-4EBD-946B-8C1A9765AD9B}" destId="{2192F168-DA79-40E5-9E79-C2CA040EFD4A}" srcOrd="0" destOrd="0" parTransId="{419E1A98-EE1E-4684-BA91-63FEBE57D32C}" sibTransId="{4D797267-522D-4401-BD17-1B7EA6196D67}"/>
    <dgm:cxn modelId="{C2D51D44-1201-4D06-B94F-BDDD82BAD0B1}" type="presOf" srcId="{3549BA2A-C761-486E-833C-FE7227F8E38A}" destId="{F6626D31-32D7-490F-9B0D-909DE6A2F2AE}" srcOrd="0" destOrd="0" presId="urn:microsoft.com/office/officeart/2005/8/layout/chevronAccent+Icon"/>
    <dgm:cxn modelId="{589B0B8A-7164-4AE4-904C-033A874376B4}" srcId="{AFA1E269-1A5B-4EBD-946B-8C1A9765AD9B}" destId="{3549BA2A-C761-486E-833C-FE7227F8E38A}" srcOrd="2" destOrd="0" parTransId="{F97D6032-E331-4242-8FB6-0AAE89197D3E}" sibTransId="{B8806152-6ADC-4FC2-9116-1F298FB1AC1D}"/>
    <dgm:cxn modelId="{924D328C-D66D-4C80-814F-396803769B6C}" type="presOf" srcId="{AFA1E269-1A5B-4EBD-946B-8C1A9765AD9B}" destId="{8732D22F-8142-4B2B-8005-473F7B456541}" srcOrd="0" destOrd="0" presId="urn:microsoft.com/office/officeart/2005/8/layout/chevronAccent+Icon"/>
    <dgm:cxn modelId="{69FCB69E-8604-4756-B13A-23C833253B8D}" type="presOf" srcId="{6EBAE18E-B395-40C3-A59B-E78DCC25767B}" destId="{27431C6F-D002-46B6-9726-C27E015344B2}" srcOrd="0" destOrd="0" presId="urn:microsoft.com/office/officeart/2005/8/layout/chevronAccent+Icon"/>
    <dgm:cxn modelId="{6B67535C-90B9-41FB-8612-53A45A8D4388}" type="presParOf" srcId="{8732D22F-8142-4B2B-8005-473F7B456541}" destId="{671FD81F-D3F5-4380-9EE2-DF73CD6A3ADF}" srcOrd="0" destOrd="0" presId="urn:microsoft.com/office/officeart/2005/8/layout/chevronAccent+Icon"/>
    <dgm:cxn modelId="{E326A226-8E9C-4578-960A-B9FD0EC9E0F5}" type="presParOf" srcId="{671FD81F-D3F5-4380-9EE2-DF73CD6A3ADF}" destId="{A6D8B001-93D2-4D11-90CE-8C31314440C9}" srcOrd="0" destOrd="0" presId="urn:microsoft.com/office/officeart/2005/8/layout/chevronAccent+Icon"/>
    <dgm:cxn modelId="{9C4ACEA2-0D7E-4973-AE5B-03E121693B5F}" type="presParOf" srcId="{671FD81F-D3F5-4380-9EE2-DF73CD6A3ADF}" destId="{41628ED0-FB77-492F-A665-D5A1FAB0CAD0}" srcOrd="1" destOrd="0" presId="urn:microsoft.com/office/officeart/2005/8/layout/chevronAccent+Icon"/>
    <dgm:cxn modelId="{DAE23845-15C4-4487-847B-466C48CE361D}" type="presParOf" srcId="{8732D22F-8142-4B2B-8005-473F7B456541}" destId="{20989404-4BC7-4C82-B30C-6A5D7D9A62B9}" srcOrd="1" destOrd="0" presId="urn:microsoft.com/office/officeart/2005/8/layout/chevronAccent+Icon"/>
    <dgm:cxn modelId="{44E75373-1367-4CD4-945E-2E3F2DD28D9D}" type="presParOf" srcId="{8732D22F-8142-4B2B-8005-473F7B456541}" destId="{01768627-185A-490E-AFF8-B065D837ADC9}" srcOrd="2" destOrd="0" presId="urn:microsoft.com/office/officeart/2005/8/layout/chevronAccent+Icon"/>
    <dgm:cxn modelId="{CB48EA0C-721C-4516-9C97-0E716BD9ED7F}" type="presParOf" srcId="{01768627-185A-490E-AFF8-B065D837ADC9}" destId="{345EA668-34E3-4761-9235-8F70A0362D88}" srcOrd="0" destOrd="0" presId="urn:microsoft.com/office/officeart/2005/8/layout/chevronAccent+Icon"/>
    <dgm:cxn modelId="{98C1A0F9-1B78-4200-9609-8177AE778A8F}" type="presParOf" srcId="{01768627-185A-490E-AFF8-B065D837ADC9}" destId="{03BCC2DB-C8A2-47A5-98FA-C68B2AC51B2B}" srcOrd="1" destOrd="0" presId="urn:microsoft.com/office/officeart/2005/8/layout/chevronAccent+Icon"/>
    <dgm:cxn modelId="{D9F123FA-0FCA-4E42-AE12-749FC9EFFD27}" type="presParOf" srcId="{8732D22F-8142-4B2B-8005-473F7B456541}" destId="{AB245CF0-D50C-4EBE-BF34-22C394767678}" srcOrd="3" destOrd="0" presId="urn:microsoft.com/office/officeart/2005/8/layout/chevronAccent+Icon"/>
    <dgm:cxn modelId="{DB7A5ADD-07F4-4273-A3AC-31B346E21B4E}" type="presParOf" srcId="{8732D22F-8142-4B2B-8005-473F7B456541}" destId="{6E386D50-4CFE-4012-9FD5-970AFADB3F0C}" srcOrd="4" destOrd="0" presId="urn:microsoft.com/office/officeart/2005/8/layout/chevronAccent+Icon"/>
    <dgm:cxn modelId="{1AF134A0-86C1-4113-8873-035D32EE24D7}" type="presParOf" srcId="{6E386D50-4CFE-4012-9FD5-970AFADB3F0C}" destId="{5C3B4377-B53E-41E7-B337-FA1992E1CB1F}" srcOrd="0" destOrd="0" presId="urn:microsoft.com/office/officeart/2005/8/layout/chevronAccent+Icon"/>
    <dgm:cxn modelId="{6F440026-6483-494C-93E7-139980CC6FDF}" type="presParOf" srcId="{6E386D50-4CFE-4012-9FD5-970AFADB3F0C}" destId="{F6626D31-32D7-490F-9B0D-909DE6A2F2AE}" srcOrd="1" destOrd="0" presId="urn:microsoft.com/office/officeart/2005/8/layout/chevronAccent+Icon"/>
    <dgm:cxn modelId="{B91312B1-C372-4ABA-836A-3280A748A43C}" type="presParOf" srcId="{8732D22F-8142-4B2B-8005-473F7B456541}" destId="{76FF6B0A-32E2-4D62-A682-D21FA728ACEA}" srcOrd="5" destOrd="0" presId="urn:microsoft.com/office/officeart/2005/8/layout/chevronAccent+Icon"/>
    <dgm:cxn modelId="{6D869FDD-A0C3-49A6-B861-41DB57A8A64E}" type="presParOf" srcId="{8732D22F-8142-4B2B-8005-473F7B456541}" destId="{06CF8AEE-9A69-4691-88B2-CA059CADE44C}" srcOrd="6" destOrd="0" presId="urn:microsoft.com/office/officeart/2005/8/layout/chevronAccent+Icon"/>
    <dgm:cxn modelId="{88BC719B-6E49-49B5-80C5-E0D9317B60F6}" type="presParOf" srcId="{06CF8AEE-9A69-4691-88B2-CA059CADE44C}" destId="{FF49E20E-18CB-4758-8743-328B05EC8D18}" srcOrd="0" destOrd="0" presId="urn:microsoft.com/office/officeart/2005/8/layout/chevronAccent+Icon"/>
    <dgm:cxn modelId="{4E58AB0A-E62C-47F7-95E3-4F601094AD26}" type="presParOf" srcId="{06CF8AEE-9A69-4691-88B2-CA059CADE44C}" destId="{27431C6F-D002-46B6-9726-C27E015344B2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12A6F-A9F9-4562-A533-7980405C87DC}">
      <dsp:nvSpPr>
        <dsp:cNvPr id="0" name=""/>
        <dsp:cNvSpPr/>
      </dsp:nvSpPr>
      <dsp:spPr>
        <a:xfrm>
          <a:off x="1911974" y="1095496"/>
          <a:ext cx="1970223" cy="19703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Abadi Extra Light" panose="020B0204020104020204" pitchFamily="34" charset="0"/>
            </a:rPr>
            <a:t>PTV patients</a:t>
          </a:r>
        </a:p>
      </dsp:txBody>
      <dsp:txXfrm>
        <a:off x="2200506" y="1384043"/>
        <a:ext cx="1393159" cy="1393227"/>
      </dsp:txXfrm>
    </dsp:sp>
    <dsp:sp modelId="{71BB651B-3077-47D5-AB84-89710D148462}">
      <dsp:nvSpPr>
        <dsp:cNvPr id="0" name=""/>
        <dsp:cNvSpPr/>
      </dsp:nvSpPr>
      <dsp:spPr>
        <a:xfrm>
          <a:off x="895958" y="0"/>
          <a:ext cx="3971646" cy="414020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E7EC5-3651-4E01-8FFB-203185495588}">
      <dsp:nvSpPr>
        <dsp:cNvPr id="0" name=""/>
        <dsp:cNvSpPr/>
      </dsp:nvSpPr>
      <dsp:spPr>
        <a:xfrm>
          <a:off x="3820389" y="349018"/>
          <a:ext cx="1055455" cy="105575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CAD31-AD20-457A-981C-193E23F14288}">
      <dsp:nvSpPr>
        <dsp:cNvPr id="0" name=""/>
        <dsp:cNvSpPr/>
      </dsp:nvSpPr>
      <dsp:spPr>
        <a:xfrm>
          <a:off x="4982095" y="355642"/>
          <a:ext cx="2354040" cy="1021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100" kern="1200" dirty="0">
              <a:latin typeface="Abadi Extra Light" panose="020B0204020104020204" pitchFamily="34" charset="0"/>
            </a:rPr>
            <a:t>We want to find clusters of similar PTV patients</a:t>
          </a:r>
        </a:p>
      </dsp:txBody>
      <dsp:txXfrm>
        <a:off x="4982095" y="355642"/>
        <a:ext cx="2354040" cy="1021801"/>
      </dsp:txXfrm>
    </dsp:sp>
    <dsp:sp modelId="{A3DE344F-4D8C-4066-A6E4-BDB7A4E69DFE}">
      <dsp:nvSpPr>
        <dsp:cNvPr id="0" name=""/>
        <dsp:cNvSpPr/>
      </dsp:nvSpPr>
      <dsp:spPr>
        <a:xfrm>
          <a:off x="4228326" y="1550090"/>
          <a:ext cx="1055455" cy="105575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9A883-597B-4E4F-BAD4-B8ADE60B2624}">
      <dsp:nvSpPr>
        <dsp:cNvPr id="0" name=""/>
        <dsp:cNvSpPr/>
      </dsp:nvSpPr>
      <dsp:spPr>
        <a:xfrm>
          <a:off x="5419066" y="1552580"/>
          <a:ext cx="2866663" cy="1021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100" kern="1200" dirty="0">
              <a:latin typeface="Abadi Extra Light" panose="020B0204020104020204" pitchFamily="34" charset="0"/>
            </a:rPr>
            <a:t>We are also interested in finding correlated pathways  </a:t>
          </a:r>
        </a:p>
      </dsp:txBody>
      <dsp:txXfrm>
        <a:off x="5419066" y="1552580"/>
        <a:ext cx="2866663" cy="1021801"/>
      </dsp:txXfrm>
    </dsp:sp>
    <dsp:sp modelId="{1654CAA6-9379-4FFA-A55F-47474E85C2E5}">
      <dsp:nvSpPr>
        <dsp:cNvPr id="0" name=""/>
        <dsp:cNvSpPr/>
      </dsp:nvSpPr>
      <dsp:spPr>
        <a:xfrm>
          <a:off x="3820389" y="2768137"/>
          <a:ext cx="1055455" cy="105575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61005-31BF-4D29-B243-89815CF8F9EC}">
      <dsp:nvSpPr>
        <dsp:cNvPr id="0" name=""/>
        <dsp:cNvSpPr/>
      </dsp:nvSpPr>
      <dsp:spPr>
        <a:xfrm>
          <a:off x="5008591" y="2769343"/>
          <a:ext cx="2262421" cy="1021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100" kern="1200" dirty="0">
              <a:latin typeface="Abadi Extra Light" panose="020B0204020104020204" pitchFamily="34" charset="0"/>
            </a:rPr>
            <a:t>In the end: we need external validation for these clusters</a:t>
          </a:r>
        </a:p>
      </dsp:txBody>
      <dsp:txXfrm>
        <a:off x="5008591" y="2769343"/>
        <a:ext cx="2262421" cy="10218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8B001-93D2-4D11-90CE-8C31314440C9}">
      <dsp:nvSpPr>
        <dsp:cNvPr id="0" name=""/>
        <dsp:cNvSpPr/>
      </dsp:nvSpPr>
      <dsp:spPr>
        <a:xfrm>
          <a:off x="3965" y="278749"/>
          <a:ext cx="1866241" cy="720369"/>
        </a:xfrm>
        <a:prstGeom prst="chevron">
          <a:avLst>
            <a:gd name="adj" fmla="val 4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28ED0-FB77-492F-A665-D5A1FAB0CAD0}">
      <dsp:nvSpPr>
        <dsp:cNvPr id="0" name=""/>
        <dsp:cNvSpPr/>
      </dsp:nvSpPr>
      <dsp:spPr>
        <a:xfrm>
          <a:off x="501629" y="458841"/>
          <a:ext cx="1575937" cy="7203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 Light" panose="020B0204020104020204" pitchFamily="34" charset="0"/>
            </a:rPr>
            <a:t>Compute similarity between patients</a:t>
          </a:r>
        </a:p>
      </dsp:txBody>
      <dsp:txXfrm>
        <a:off x="522728" y="479940"/>
        <a:ext cx="1533739" cy="678171"/>
      </dsp:txXfrm>
    </dsp:sp>
    <dsp:sp modelId="{345EA668-34E3-4761-9235-8F70A0362D88}">
      <dsp:nvSpPr>
        <dsp:cNvPr id="0" name=""/>
        <dsp:cNvSpPr/>
      </dsp:nvSpPr>
      <dsp:spPr>
        <a:xfrm>
          <a:off x="2135627" y="278749"/>
          <a:ext cx="1866241" cy="720369"/>
        </a:xfrm>
        <a:prstGeom prst="chevron">
          <a:avLst>
            <a:gd name="adj" fmla="val 40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CC2DB-C8A2-47A5-98FA-C68B2AC51B2B}">
      <dsp:nvSpPr>
        <dsp:cNvPr id="0" name=""/>
        <dsp:cNvSpPr/>
      </dsp:nvSpPr>
      <dsp:spPr>
        <a:xfrm>
          <a:off x="2633292" y="458841"/>
          <a:ext cx="1575937" cy="7203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 Light" panose="020B0204020104020204" pitchFamily="34" charset="0"/>
            </a:rPr>
            <a:t>Compute distance matrix for patients</a:t>
          </a:r>
        </a:p>
      </dsp:txBody>
      <dsp:txXfrm>
        <a:off x="2654391" y="479940"/>
        <a:ext cx="1533739" cy="678171"/>
      </dsp:txXfrm>
    </dsp:sp>
    <dsp:sp modelId="{5C3B4377-B53E-41E7-B337-FA1992E1CB1F}">
      <dsp:nvSpPr>
        <dsp:cNvPr id="0" name=""/>
        <dsp:cNvSpPr/>
      </dsp:nvSpPr>
      <dsp:spPr>
        <a:xfrm>
          <a:off x="4267290" y="278749"/>
          <a:ext cx="1866241" cy="720369"/>
        </a:xfrm>
        <a:prstGeom prst="chevron">
          <a:avLst>
            <a:gd name="adj" fmla="val 40000"/>
          </a:avLst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26D31-32D7-490F-9B0D-909DE6A2F2AE}">
      <dsp:nvSpPr>
        <dsp:cNvPr id="0" name=""/>
        <dsp:cNvSpPr/>
      </dsp:nvSpPr>
      <dsp:spPr>
        <a:xfrm>
          <a:off x="4764954" y="458841"/>
          <a:ext cx="1575937" cy="7203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 Light" panose="020B0204020104020204" pitchFamily="34" charset="0"/>
            </a:rPr>
            <a:t>Apply hierarchical clustering</a:t>
          </a:r>
        </a:p>
      </dsp:txBody>
      <dsp:txXfrm>
        <a:off x="4786053" y="479940"/>
        <a:ext cx="1533739" cy="678171"/>
      </dsp:txXfrm>
    </dsp:sp>
    <dsp:sp modelId="{FF49E20E-18CB-4758-8743-328B05EC8D18}">
      <dsp:nvSpPr>
        <dsp:cNvPr id="0" name=""/>
        <dsp:cNvSpPr/>
      </dsp:nvSpPr>
      <dsp:spPr>
        <a:xfrm>
          <a:off x="6398953" y="278749"/>
          <a:ext cx="1866241" cy="720369"/>
        </a:xfrm>
        <a:prstGeom prst="chevron">
          <a:avLst>
            <a:gd name="adj" fmla="val 4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31C6F-D002-46B6-9726-C27E015344B2}">
      <dsp:nvSpPr>
        <dsp:cNvPr id="0" name=""/>
        <dsp:cNvSpPr/>
      </dsp:nvSpPr>
      <dsp:spPr>
        <a:xfrm>
          <a:off x="6896617" y="458841"/>
          <a:ext cx="1575937" cy="7203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badi Extra Light" panose="020B0204020104020204" pitchFamily="34" charset="0"/>
            </a:rPr>
            <a:t>Validate clusters</a:t>
          </a:r>
        </a:p>
      </dsp:txBody>
      <dsp:txXfrm>
        <a:off x="6917716" y="479940"/>
        <a:ext cx="1533739" cy="6781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8B001-93D2-4D11-90CE-8C31314440C9}">
      <dsp:nvSpPr>
        <dsp:cNvPr id="0" name=""/>
        <dsp:cNvSpPr/>
      </dsp:nvSpPr>
      <dsp:spPr>
        <a:xfrm>
          <a:off x="3965" y="278749"/>
          <a:ext cx="1866241" cy="720369"/>
        </a:xfrm>
        <a:prstGeom prst="chevron">
          <a:avLst>
            <a:gd name="adj" fmla="val 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28ED0-FB77-492F-A665-D5A1FAB0CAD0}">
      <dsp:nvSpPr>
        <dsp:cNvPr id="0" name=""/>
        <dsp:cNvSpPr/>
      </dsp:nvSpPr>
      <dsp:spPr>
        <a:xfrm>
          <a:off x="501629" y="458841"/>
          <a:ext cx="1575937" cy="72036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badi Extra Light" panose="020B0204020104020204" pitchFamily="34" charset="0"/>
            </a:rPr>
            <a:t>Compute correlation between pathways</a:t>
          </a:r>
        </a:p>
      </dsp:txBody>
      <dsp:txXfrm>
        <a:off x="522728" y="479940"/>
        <a:ext cx="1533739" cy="678171"/>
      </dsp:txXfrm>
    </dsp:sp>
    <dsp:sp modelId="{345EA668-34E3-4761-9235-8F70A0362D88}">
      <dsp:nvSpPr>
        <dsp:cNvPr id="0" name=""/>
        <dsp:cNvSpPr/>
      </dsp:nvSpPr>
      <dsp:spPr>
        <a:xfrm>
          <a:off x="2135627" y="278749"/>
          <a:ext cx="1866241" cy="720369"/>
        </a:xfrm>
        <a:prstGeom prst="chevron">
          <a:avLst>
            <a:gd name="adj" fmla="val 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CC2DB-C8A2-47A5-98FA-C68B2AC51B2B}">
      <dsp:nvSpPr>
        <dsp:cNvPr id="0" name=""/>
        <dsp:cNvSpPr/>
      </dsp:nvSpPr>
      <dsp:spPr>
        <a:xfrm>
          <a:off x="2633292" y="458841"/>
          <a:ext cx="1575937" cy="72036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badi Extra Light" panose="020B0204020104020204" pitchFamily="34" charset="0"/>
            </a:rPr>
            <a:t>Compute similarity between pathways</a:t>
          </a:r>
        </a:p>
      </dsp:txBody>
      <dsp:txXfrm>
        <a:off x="2654391" y="479940"/>
        <a:ext cx="1533739" cy="678171"/>
      </dsp:txXfrm>
    </dsp:sp>
    <dsp:sp modelId="{5C3B4377-B53E-41E7-B337-FA1992E1CB1F}">
      <dsp:nvSpPr>
        <dsp:cNvPr id="0" name=""/>
        <dsp:cNvSpPr/>
      </dsp:nvSpPr>
      <dsp:spPr>
        <a:xfrm>
          <a:off x="4267290" y="278749"/>
          <a:ext cx="1866241" cy="720369"/>
        </a:xfrm>
        <a:prstGeom prst="chevron">
          <a:avLst>
            <a:gd name="adj" fmla="val 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26D31-32D7-490F-9B0D-909DE6A2F2AE}">
      <dsp:nvSpPr>
        <dsp:cNvPr id="0" name=""/>
        <dsp:cNvSpPr/>
      </dsp:nvSpPr>
      <dsp:spPr>
        <a:xfrm>
          <a:off x="4764954" y="458841"/>
          <a:ext cx="1575937" cy="72036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badi Extra Light" panose="020B0204020104020204" pitchFamily="34" charset="0"/>
            </a:rPr>
            <a:t>Apply hierarchical clustering</a:t>
          </a:r>
        </a:p>
      </dsp:txBody>
      <dsp:txXfrm>
        <a:off x="4786053" y="479940"/>
        <a:ext cx="1533739" cy="678171"/>
      </dsp:txXfrm>
    </dsp:sp>
    <dsp:sp modelId="{FF49E20E-18CB-4758-8743-328B05EC8D18}">
      <dsp:nvSpPr>
        <dsp:cNvPr id="0" name=""/>
        <dsp:cNvSpPr/>
      </dsp:nvSpPr>
      <dsp:spPr>
        <a:xfrm>
          <a:off x="6398953" y="278749"/>
          <a:ext cx="1866241" cy="720369"/>
        </a:xfrm>
        <a:prstGeom prst="chevron">
          <a:avLst>
            <a:gd name="adj" fmla="val 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31C6F-D002-46B6-9726-C27E015344B2}">
      <dsp:nvSpPr>
        <dsp:cNvPr id="0" name=""/>
        <dsp:cNvSpPr/>
      </dsp:nvSpPr>
      <dsp:spPr>
        <a:xfrm>
          <a:off x="6896617" y="458841"/>
          <a:ext cx="1575937" cy="720369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Abadi Extra Light" panose="020B0204020104020204" pitchFamily="34" charset="0"/>
            </a:rPr>
            <a:t>Validate results</a:t>
          </a:r>
        </a:p>
      </dsp:txBody>
      <dsp:txXfrm>
        <a:off x="6917716" y="479940"/>
        <a:ext cx="1533739" cy="678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41305-E248-4842-AEF6-36C2F2A111BC}" type="datetimeFigureOut">
              <a:rPr lang="en-US" smtClean="0"/>
              <a:t>9/6/2019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0743B-7677-4FA6-A7F0-12EE4ABB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4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/>
          <p:cNvPicPr/>
          <p:nvPr/>
        </p:nvPicPr>
        <p:blipFill>
          <a:blip r:embed="rId14"/>
          <a:srcRect l="19261" t="20543" r="23607" b="31256"/>
          <a:stretch/>
        </p:blipFill>
        <p:spPr>
          <a:xfrm>
            <a:off x="0" y="1507320"/>
            <a:ext cx="9142920" cy="5131800"/>
          </a:xfrm>
          <a:prstGeom prst="rect">
            <a:avLst/>
          </a:prstGeom>
          <a:ln>
            <a:noFill/>
          </a:ln>
        </p:spPr>
      </p:pic>
      <p:sp>
        <p:nvSpPr>
          <p:cNvPr id="8" name="Line 1"/>
          <p:cNvSpPr/>
          <p:nvPr/>
        </p:nvSpPr>
        <p:spPr>
          <a:xfrm>
            <a:off x="-11880" y="1388520"/>
            <a:ext cx="9155880" cy="360"/>
          </a:xfrm>
          <a:prstGeom prst="line">
            <a:avLst/>
          </a:prstGeom>
          <a:ln w="241200">
            <a:solidFill>
              <a:srgbClr val="00AAE9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Line 2"/>
          <p:cNvSpPr/>
          <p:nvPr/>
        </p:nvSpPr>
        <p:spPr>
          <a:xfrm>
            <a:off x="-11880" y="6748920"/>
            <a:ext cx="9155880" cy="360"/>
          </a:xfrm>
          <a:prstGeom prst="line">
            <a:avLst/>
          </a:prstGeom>
          <a:ln w="241200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" name="Picture 11"/>
          <p:cNvPicPr/>
          <p:nvPr/>
        </p:nvPicPr>
        <p:blipFill>
          <a:blip r:embed="rId15"/>
          <a:stretch/>
        </p:blipFill>
        <p:spPr>
          <a:xfrm>
            <a:off x="285840" y="357480"/>
            <a:ext cx="2799360" cy="628200"/>
          </a:xfrm>
          <a:prstGeom prst="rect">
            <a:avLst/>
          </a:prstGeom>
          <a:ln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6" name="Picture 5"/>
          <p:cNvPicPr/>
          <p:nvPr/>
        </p:nvPicPr>
        <p:blipFill>
          <a:blip r:embed="rId16"/>
          <a:stretch/>
        </p:blipFill>
        <p:spPr>
          <a:xfrm>
            <a:off x="3295800" y="512640"/>
            <a:ext cx="544320" cy="32976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ine 1"/>
          <p:cNvSpPr/>
          <p:nvPr/>
        </p:nvSpPr>
        <p:spPr>
          <a:xfrm>
            <a:off x="200160" y="6352560"/>
            <a:ext cx="8691120" cy="360"/>
          </a:xfrm>
          <a:prstGeom prst="line">
            <a:avLst/>
          </a:prstGeom>
          <a:ln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CustomShape 2"/>
          <p:cNvSpPr/>
          <p:nvPr/>
        </p:nvSpPr>
        <p:spPr>
          <a:xfrm>
            <a:off x="200520" y="6481080"/>
            <a:ext cx="7480080" cy="39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1" strike="noStrike" spc="-1">
                <a:solidFill>
                  <a:srgbClr val="00AEEF"/>
                </a:solidFill>
                <a:latin typeface="Tahoma"/>
                <a:ea typeface="Tahoma"/>
              </a:rPr>
              <a:t>CONFIDENTIAL</a:t>
            </a:r>
            <a:r>
              <a:rPr lang="en-US" sz="1000" b="0" strike="noStrike" spc="-1">
                <a:solidFill>
                  <a:srgbClr val="4D4D4F"/>
                </a:solidFill>
                <a:latin typeface="Tahoma"/>
                <a:ea typeface="Tahoma"/>
              </a:rPr>
              <a:t> </a:t>
            </a:r>
            <a:r>
              <a:rPr lang="en-US" sz="1000" b="0" strike="noStrike" spc="-1">
                <a:solidFill>
                  <a:srgbClr val="757070"/>
                </a:solidFill>
                <a:latin typeface="Tahoma"/>
                <a:ea typeface="Tahoma"/>
              </a:rPr>
              <a:t>STALICLA R&amp;D – Do not use, modify or transmit content without prior authorization  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5" name="Group 3"/>
          <p:cNvGrpSpPr/>
          <p:nvPr/>
        </p:nvGrpSpPr>
        <p:grpSpPr>
          <a:xfrm>
            <a:off x="-7200" y="158040"/>
            <a:ext cx="9151200" cy="1213560"/>
            <a:chOff x="-7200" y="158040"/>
            <a:chExt cx="9151200" cy="1213560"/>
          </a:xfrm>
        </p:grpSpPr>
        <p:pic>
          <p:nvPicPr>
            <p:cNvPr id="46" name="Picture 29"/>
            <p:cNvPicPr/>
            <p:nvPr/>
          </p:nvPicPr>
          <p:blipFill>
            <a:blip r:embed="rId14"/>
            <a:srcRect t="20824" r="3163" b="28132"/>
            <a:stretch/>
          </p:blipFill>
          <p:spPr>
            <a:xfrm>
              <a:off x="-4320" y="712440"/>
              <a:ext cx="9147240" cy="646920"/>
            </a:xfrm>
            <a:prstGeom prst="rect">
              <a:avLst/>
            </a:prstGeom>
            <a:ln>
              <a:noFill/>
            </a:ln>
          </p:spPr>
        </p:pic>
        <p:sp>
          <p:nvSpPr>
            <p:cNvPr id="47" name="Line 4"/>
            <p:cNvSpPr/>
            <p:nvPr/>
          </p:nvSpPr>
          <p:spPr>
            <a:xfrm>
              <a:off x="-7200" y="704520"/>
              <a:ext cx="9151200" cy="360"/>
            </a:xfrm>
            <a:prstGeom prst="line">
              <a:avLst/>
            </a:prstGeom>
            <a:ln w="34920">
              <a:solidFill>
                <a:srgbClr val="00AAE9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" name="Line 5"/>
            <p:cNvSpPr/>
            <p:nvPr/>
          </p:nvSpPr>
          <p:spPr>
            <a:xfrm>
              <a:off x="-7200" y="1371240"/>
              <a:ext cx="9151200" cy="360"/>
            </a:xfrm>
            <a:prstGeom prst="line">
              <a:avLst/>
            </a:prstGeom>
            <a:ln w="34920">
              <a:solidFill>
                <a:schemeClr val="accent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49" name="Picture 32"/>
            <p:cNvPicPr/>
            <p:nvPr/>
          </p:nvPicPr>
          <p:blipFill>
            <a:blip r:embed="rId15"/>
            <a:stretch/>
          </p:blipFill>
          <p:spPr>
            <a:xfrm>
              <a:off x="274680" y="158040"/>
              <a:ext cx="1650600" cy="3700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50" name="Picture 49"/>
          <p:cNvPicPr/>
          <p:nvPr/>
        </p:nvPicPr>
        <p:blipFill>
          <a:blip r:embed="rId16"/>
          <a:stretch/>
        </p:blipFill>
        <p:spPr>
          <a:xfrm>
            <a:off x="2047680" y="216360"/>
            <a:ext cx="421200" cy="255240"/>
          </a:xfrm>
          <a:prstGeom prst="rect">
            <a:avLst/>
          </a:prstGeom>
          <a:ln>
            <a:noFill/>
          </a:ln>
        </p:spPr>
      </p:pic>
      <p:sp>
        <p:nvSpPr>
          <p:cNvPr id="51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2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4297680" y="2828160"/>
            <a:ext cx="3733919" cy="65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Clustering PTV patients with ASD </a:t>
            </a:r>
          </a:p>
          <a:p>
            <a:pPr algn="r">
              <a:lnSpc>
                <a:spcPct val="90000"/>
              </a:lnSpc>
            </a:pPr>
            <a:endParaRPr lang="en-US" sz="3200" b="1" spc="-1" dirty="0">
              <a:solidFill>
                <a:srgbClr val="FFFFFF"/>
              </a:solidFill>
              <a:latin typeface="Abadi Extra Light" panose="020B0604020202020204" pitchFamily="34" charset="0"/>
              <a:ea typeface="Tahoma"/>
            </a:endParaRPr>
          </a:p>
          <a:p>
            <a:pPr algn="r">
              <a:lnSpc>
                <a:spcPct val="90000"/>
              </a:lnSpc>
            </a:pPr>
            <a:endParaRPr lang="en-US" sz="3200" b="1" spc="-1" dirty="0">
              <a:solidFill>
                <a:srgbClr val="FFFFFF"/>
              </a:solidFill>
              <a:latin typeface="Abadi Extra Light" panose="020B0604020202020204" pitchFamily="34" charset="0"/>
              <a:ea typeface="Tahoma"/>
            </a:endParaRPr>
          </a:p>
          <a:p>
            <a:pPr algn="r">
              <a:lnSpc>
                <a:spcPct val="90000"/>
              </a:lnSpc>
            </a:pPr>
            <a:r>
              <a:rPr lang="en-US" sz="2400" b="1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Gabriela Martínez</a:t>
            </a:r>
          </a:p>
          <a:p>
            <a:pPr algn="r">
              <a:lnSpc>
                <a:spcPct val="90000"/>
              </a:lnSpc>
            </a:pPr>
            <a:r>
              <a:rPr lang="en-US" sz="2400" spc="-1" dirty="0">
                <a:solidFill>
                  <a:srgbClr val="FFFFFF"/>
                </a:solidFill>
                <a:latin typeface="Abadi Extra Light" panose="020B0604020202020204" pitchFamily="34" charset="0"/>
                <a:ea typeface="Tahoma"/>
              </a:rPr>
              <a:t>August 2019</a:t>
            </a:r>
            <a:br>
              <a:rPr dirty="0">
                <a:latin typeface="Abadi Extra Light" panose="020B0604020202020204" pitchFamily="34" charset="0"/>
              </a:rPr>
            </a:br>
            <a:endParaRPr lang="en-US" sz="3200" b="0" strike="noStrike" spc="-1" dirty="0">
              <a:latin typeface="Abadi Extra Light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Our objectives…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756110-D42E-45C7-B278-F4D6B1E180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394492"/>
              </p:ext>
            </p:extLst>
          </p:nvPr>
        </p:nvGraphicFramePr>
        <p:xfrm>
          <a:off x="118840" y="2024009"/>
          <a:ext cx="8405400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484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cs typeface="Calibri Light" panose="020F0302020204030204" pitchFamily="34" charset="0"/>
              </a:rPr>
              <a:t>Roadmap for patients clustering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6DD1674-8CFF-496D-BB35-848AB1A400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14966"/>
              </p:ext>
            </p:extLst>
          </p:nvPr>
        </p:nvGraphicFramePr>
        <p:xfrm>
          <a:off x="250920" y="2481738"/>
          <a:ext cx="8476520" cy="1457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stomShape 2">
            <a:extLst>
              <a:ext uri="{FF2B5EF4-FFF2-40B4-BE49-F238E27FC236}">
                <a16:creationId xmlns:a16="http://schemas.microsoft.com/office/drawing/2014/main" id="{DC7E9B35-F9B8-4951-A34D-8C42CB95E6DC}"/>
              </a:ext>
            </a:extLst>
          </p:cNvPr>
          <p:cNvSpPr/>
          <p:nvPr/>
        </p:nvSpPr>
        <p:spPr>
          <a:xfrm>
            <a:off x="250920" y="1952889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Statistical results for clustering always need to be validated by experts: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3E9C63-9195-4E73-9AEC-CD714FD1F544}"/>
              </a:ext>
            </a:extLst>
          </p:cNvPr>
          <p:cNvSpPr/>
          <p:nvPr/>
        </p:nvSpPr>
        <p:spPr>
          <a:xfrm>
            <a:off x="223520" y="2603658"/>
            <a:ext cx="4307840" cy="1196182"/>
          </a:xfrm>
          <a:prstGeom prst="round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2D14EFA2-8216-4E8A-9AF8-1060FCBB7BF8}"/>
              </a:ext>
            </a:extLst>
          </p:cNvPr>
          <p:cNvSpPr/>
          <p:nvPr/>
        </p:nvSpPr>
        <p:spPr>
          <a:xfrm>
            <a:off x="665479" y="4275507"/>
            <a:ext cx="3423920" cy="1127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This </a:t>
            </a:r>
            <a:r>
              <a:rPr lang="en-US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distance matrix </a:t>
            </a: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serves as input for any clustering algorithm and it is the most important step in the pipeline</a:t>
            </a:r>
            <a:endParaRPr lang="en-US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B6E715B-3E15-4DD7-A976-AA0B85455728}"/>
              </a:ext>
            </a:extLst>
          </p:cNvPr>
          <p:cNvSpPr/>
          <p:nvPr/>
        </p:nvSpPr>
        <p:spPr>
          <a:xfrm rot="5400000">
            <a:off x="2223267" y="3975457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70674820-2D7E-4B87-8004-5A94D0E36290}"/>
              </a:ext>
            </a:extLst>
          </p:cNvPr>
          <p:cNvSpPr/>
          <p:nvPr/>
        </p:nvSpPr>
        <p:spPr>
          <a:xfrm>
            <a:off x="6891018" y="4275507"/>
            <a:ext cx="2087881" cy="1127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If this stage fails, clustering needs to be reviewed and recomputed</a:t>
            </a:r>
            <a:endParaRPr lang="en-US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4B0C7BE-AC78-49CD-8D15-1CBA4127918D}"/>
              </a:ext>
            </a:extLst>
          </p:cNvPr>
          <p:cNvSpPr/>
          <p:nvPr/>
        </p:nvSpPr>
        <p:spPr>
          <a:xfrm rot="5400000">
            <a:off x="7780787" y="3975457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E4FEAC20-DE85-4E16-A3C3-EC8C3B30F009}"/>
              </a:ext>
            </a:extLst>
          </p:cNvPr>
          <p:cNvSpPr/>
          <p:nvPr/>
        </p:nvSpPr>
        <p:spPr>
          <a:xfrm>
            <a:off x="4789437" y="4142898"/>
            <a:ext cx="2087881" cy="1127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It facilitates the </a:t>
            </a:r>
            <a:r>
              <a:rPr lang="en-US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visualization</a:t>
            </a: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of grouped patients</a:t>
            </a:r>
            <a:endParaRPr lang="en-US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D9642F1-9F25-4D9B-A1F0-53F46F348A86}"/>
              </a:ext>
            </a:extLst>
          </p:cNvPr>
          <p:cNvSpPr/>
          <p:nvPr/>
        </p:nvSpPr>
        <p:spPr>
          <a:xfrm rot="5400000">
            <a:off x="5679206" y="3975457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6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How are two patients considered “similar”?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DA738B8-DA67-4871-B772-B1C599D6C510}"/>
              </a:ext>
            </a:extLst>
          </p:cNvPr>
          <p:cNvSpPr/>
          <p:nvPr/>
        </p:nvSpPr>
        <p:spPr>
          <a:xfrm>
            <a:off x="250920" y="1952889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first step for clustering is to define how similarity will be defined.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17CD4F26-25DF-4B87-8C67-194643608682}"/>
              </a:ext>
            </a:extLst>
          </p:cNvPr>
          <p:cNvSpPr/>
          <p:nvPr/>
        </p:nvSpPr>
        <p:spPr>
          <a:xfrm>
            <a:off x="250920" y="239940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Jaccard’s distance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E20F77EA-6F8B-4014-B71D-2B79A58536C3}"/>
              </a:ext>
            </a:extLst>
          </p:cNvPr>
          <p:cNvSpPr/>
          <p:nvPr/>
        </p:nvSpPr>
        <p:spPr>
          <a:xfrm>
            <a:off x="250920" y="2812705"/>
            <a:ext cx="8476520" cy="9325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Two patients will be “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closer to each other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”, or “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similar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” when they share mutations in the same pathways. For every pathway and pair of patients, the following matrix of similarity is computed: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7334C-D042-40BA-9643-7E2A8BC14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556541"/>
              </p:ext>
            </p:extLst>
          </p:nvPr>
        </p:nvGraphicFramePr>
        <p:xfrm>
          <a:off x="482429" y="4058243"/>
          <a:ext cx="1686560" cy="11125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18160">
                  <a:extLst>
                    <a:ext uri="{9D8B030D-6E8A-4147-A177-3AD203B41FA5}">
                      <a16:colId xmlns:a16="http://schemas.microsoft.com/office/drawing/2014/main" val="3775922137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3495570436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3690673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Abadi Extra Light" panose="020B02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badi Extra Light" panose="020B0204020104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badi Extra Light" panose="020B0204020104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807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 Light" panose="020B0204020104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 Light" panose="020B0204020104020204" pitchFamily="34" charset="0"/>
                        </a:rPr>
                        <a:t>M</a:t>
                      </a:r>
                      <a:r>
                        <a:rPr lang="en-US" sz="1100" dirty="0">
                          <a:latin typeface="Abadi Extra Light" panose="020B0204020104020204" pitchFamily="34" charset="0"/>
                        </a:rPr>
                        <a:t>00</a:t>
                      </a:r>
                      <a:endParaRPr lang="en-US" dirty="0">
                        <a:latin typeface="Abadi Extra Light" panose="020B02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 Light" panose="020B0204020104020204" pitchFamily="34" charset="0"/>
                        </a:rPr>
                        <a:t>M</a:t>
                      </a:r>
                      <a:r>
                        <a:rPr lang="en-US" sz="1100" dirty="0">
                          <a:latin typeface="Abadi Extra Light" panose="020B0204020104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37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 Light" panose="020B0204020104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 Light" panose="020B0204020104020204" pitchFamily="34" charset="0"/>
                        </a:rPr>
                        <a:t>M</a:t>
                      </a:r>
                      <a:r>
                        <a:rPr lang="en-US" sz="1100" dirty="0">
                          <a:latin typeface="Abadi Extra Light" panose="020B0204020104020204" pitchFamily="34" charset="0"/>
                        </a:rPr>
                        <a:t>01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badi Extra Light" panose="020B0204020104020204" pitchFamily="34" charset="0"/>
                        </a:rPr>
                        <a:t>M</a:t>
                      </a:r>
                      <a:r>
                        <a:rPr lang="en-US" sz="1100" dirty="0">
                          <a:latin typeface="Abadi Extra Light" panose="020B0204020104020204" pitchFamily="34" charset="0"/>
                        </a:rPr>
                        <a:t>11</a:t>
                      </a:r>
                      <a:endParaRPr lang="en-US" dirty="0">
                        <a:latin typeface="Abadi Extra Light" panose="020B0204020104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22429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F4D942-2FC3-48BA-86BA-2D2303FE8954}"/>
                  </a:ext>
                </a:extLst>
              </p:cNvPr>
              <p:cNvSpPr txBox="1"/>
              <p:nvPr/>
            </p:nvSpPr>
            <p:spPr>
              <a:xfrm>
                <a:off x="2685484" y="5631174"/>
                <a:ext cx="1794337" cy="4398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>
                  <a:latin typeface="Abadi Extra Light" panose="020B0204020104020204" pitchFamily="34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F4D942-2FC3-48BA-86BA-2D2303FE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484" y="5631174"/>
                <a:ext cx="1794337" cy="439864"/>
              </a:xfrm>
              <a:prstGeom prst="rect">
                <a:avLst/>
              </a:prstGeom>
              <a:blipFill>
                <a:blip r:embed="rId2"/>
                <a:stretch>
                  <a:fillRect l="-2041" t="-1389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stomShape 2">
            <a:extLst>
              <a:ext uri="{FF2B5EF4-FFF2-40B4-BE49-F238E27FC236}">
                <a16:creationId xmlns:a16="http://schemas.microsoft.com/office/drawing/2014/main" id="{05DDC99E-95FA-4E26-BF11-564D41EE363F}"/>
              </a:ext>
            </a:extLst>
          </p:cNvPr>
          <p:cNvSpPr/>
          <p:nvPr/>
        </p:nvSpPr>
        <p:spPr>
          <a:xfrm>
            <a:off x="2168989" y="4863691"/>
            <a:ext cx="1499244" cy="3250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1600" b="1" strike="noStrike" spc="-1" dirty="0">
                <a:solidFill>
                  <a:srgbClr val="92D050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Common mutations</a:t>
            </a:r>
            <a:endParaRPr lang="en-US" sz="1600" b="1" strike="noStrike" spc="-1" dirty="0">
              <a:solidFill>
                <a:srgbClr val="92D050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550291F4-821B-4A04-B820-EAE175FCB72A}"/>
              </a:ext>
            </a:extLst>
          </p:cNvPr>
          <p:cNvSpPr/>
          <p:nvPr/>
        </p:nvSpPr>
        <p:spPr>
          <a:xfrm>
            <a:off x="2168989" y="4445064"/>
            <a:ext cx="1499244" cy="3355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1600" b="1" spc="-1" dirty="0">
                <a:solidFill>
                  <a:srgbClr val="FF0000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Unmatching</a:t>
            </a:r>
            <a:r>
              <a:rPr lang="en-US" sz="1600" b="1" strike="noStrike" spc="-1" dirty="0">
                <a:solidFill>
                  <a:srgbClr val="FF0000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mutations</a:t>
            </a:r>
            <a:endParaRPr lang="en-US" sz="1600" b="1" strike="noStrike" spc="-1" dirty="0">
              <a:solidFill>
                <a:srgbClr val="FF0000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000F59D2-0150-47E5-B8F5-F6444DF628BF}"/>
              </a:ext>
            </a:extLst>
          </p:cNvPr>
          <p:cNvSpPr/>
          <p:nvPr/>
        </p:nvSpPr>
        <p:spPr>
          <a:xfrm>
            <a:off x="350349" y="5557584"/>
            <a:ext cx="2207800" cy="338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1600" b="1" spc="-1" dirty="0">
                <a:solidFill>
                  <a:srgbClr val="FF0000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Unmatching</a:t>
            </a:r>
            <a:r>
              <a:rPr lang="en-US" sz="1600" b="1" strike="noStrike" spc="-1" dirty="0">
                <a:solidFill>
                  <a:srgbClr val="FF0000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mutations</a:t>
            </a:r>
            <a:endParaRPr lang="en-US" sz="1600" b="1" strike="noStrike" spc="-1" dirty="0">
              <a:solidFill>
                <a:srgbClr val="FF0000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98E786-9FFD-44B6-A788-3A2966096A5C}"/>
              </a:ext>
            </a:extLst>
          </p:cNvPr>
          <p:cNvCxnSpPr/>
          <p:nvPr/>
        </p:nvCxnSpPr>
        <p:spPr>
          <a:xfrm>
            <a:off x="1259840" y="5232569"/>
            <a:ext cx="0" cy="3453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stomShape 2">
            <a:extLst>
              <a:ext uri="{FF2B5EF4-FFF2-40B4-BE49-F238E27FC236}">
                <a16:creationId xmlns:a16="http://schemas.microsoft.com/office/drawing/2014/main" id="{2E984340-282C-4EE2-8D86-45B2627D78BC}"/>
              </a:ext>
            </a:extLst>
          </p:cNvPr>
          <p:cNvSpPr/>
          <p:nvPr/>
        </p:nvSpPr>
        <p:spPr>
          <a:xfrm>
            <a:off x="4885187" y="4092652"/>
            <a:ext cx="3272073" cy="17584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more mutations in the same pathways are shared by two patients, the more similar they are! </a:t>
            </a:r>
          </a:p>
          <a:p>
            <a:pPr>
              <a:lnSpc>
                <a:spcPct val="90000"/>
              </a:lnSpc>
            </a:pPr>
            <a:endParaRPr lang="en-US" b="1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This measure is a probability: the closer to 1, the more similarity.</a:t>
            </a:r>
            <a:endParaRPr lang="en-US" b="1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6BF24E1-1CF5-4BDD-BD4A-B7B13A32109E}"/>
              </a:ext>
            </a:extLst>
          </p:cNvPr>
          <p:cNvSpPr/>
          <p:nvPr/>
        </p:nvSpPr>
        <p:spPr>
          <a:xfrm rot="2226995">
            <a:off x="2337987" y="5440943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D56EB99-32E2-4A54-96AC-FE51369F2414}"/>
              </a:ext>
            </a:extLst>
          </p:cNvPr>
          <p:cNvSpPr/>
          <p:nvPr/>
        </p:nvSpPr>
        <p:spPr>
          <a:xfrm rot="19375376">
            <a:off x="4528332" y="5440980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4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How does our patient similarity matrix look like?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DA738B8-DA67-4871-B772-B1C599D6C510}"/>
              </a:ext>
            </a:extLst>
          </p:cNvPr>
          <p:cNvSpPr/>
          <p:nvPr/>
        </p:nvSpPr>
        <p:spPr>
          <a:xfrm>
            <a:off x="250920" y="1952889"/>
            <a:ext cx="8476520" cy="10239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000" strike="noStrike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After all computations, we will have a large matrix (257 x 257) of patients and their measure of 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distance (the closer this number to 1, the more similar these patients are):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7334C-D042-40BA-9643-7E2A8BC14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120622"/>
              </p:ext>
            </p:extLst>
          </p:nvPr>
        </p:nvGraphicFramePr>
        <p:xfrm>
          <a:off x="1780454" y="3130867"/>
          <a:ext cx="5583091" cy="264853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09708">
                  <a:extLst>
                    <a:ext uri="{9D8B030D-6E8A-4147-A177-3AD203B41FA5}">
                      <a16:colId xmlns:a16="http://schemas.microsoft.com/office/drawing/2014/main" val="3775922137"/>
                    </a:ext>
                  </a:extLst>
                </a:gridCol>
                <a:gridCol w="1128498">
                  <a:extLst>
                    <a:ext uri="{9D8B030D-6E8A-4147-A177-3AD203B41FA5}">
                      <a16:colId xmlns:a16="http://schemas.microsoft.com/office/drawing/2014/main" val="3495570436"/>
                    </a:ext>
                  </a:extLst>
                </a:gridCol>
                <a:gridCol w="1148295">
                  <a:extLst>
                    <a:ext uri="{9D8B030D-6E8A-4147-A177-3AD203B41FA5}">
                      <a16:colId xmlns:a16="http://schemas.microsoft.com/office/drawing/2014/main" val="3690673097"/>
                    </a:ext>
                  </a:extLst>
                </a:gridCol>
                <a:gridCol w="1148295">
                  <a:extLst>
                    <a:ext uri="{9D8B030D-6E8A-4147-A177-3AD203B41FA5}">
                      <a16:colId xmlns:a16="http://schemas.microsoft.com/office/drawing/2014/main" val="2047637030"/>
                    </a:ext>
                  </a:extLst>
                </a:gridCol>
                <a:gridCol w="1148295">
                  <a:extLst>
                    <a:ext uri="{9D8B030D-6E8A-4147-A177-3AD203B41FA5}">
                      <a16:colId xmlns:a16="http://schemas.microsoft.com/office/drawing/2014/main" val="2989988547"/>
                    </a:ext>
                  </a:extLst>
                </a:gridCol>
              </a:tblGrid>
              <a:tr h="368293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Patient_1</a:t>
                      </a:r>
                      <a:endParaRPr lang="en-US" sz="1600" b="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Patient_2</a:t>
                      </a:r>
                      <a:endParaRPr lang="en-US" sz="1600" b="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Patient_3</a:t>
                      </a:r>
                      <a:endParaRPr lang="en-US" sz="1600" b="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Patient_4</a:t>
                      </a:r>
                      <a:endParaRPr lang="en-US" sz="1600" b="0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807062"/>
                  </a:ext>
                </a:extLst>
              </a:tr>
              <a:tr h="5700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377150"/>
                  </a:ext>
                </a:extLst>
              </a:tr>
              <a:tr h="5700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224298"/>
                  </a:ext>
                </a:extLst>
              </a:tr>
              <a:tr h="5700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latin typeface="Abadi Extra Light" panose="020B02040201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419267"/>
                  </a:ext>
                </a:extLst>
              </a:tr>
              <a:tr h="57006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badi Extra Light" panose="020B0204020104020204" pitchFamily="34" charset="0"/>
                        </a:rPr>
                        <a:t>Patient_4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badi Extra Light" panose="020B0204020104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08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2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Hierarchical clustering for patients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DA738B8-DA67-4871-B772-B1C599D6C510}"/>
              </a:ext>
            </a:extLst>
          </p:cNvPr>
          <p:cNvSpPr/>
          <p:nvPr/>
        </p:nvSpPr>
        <p:spPr>
          <a:xfrm>
            <a:off x="250920" y="1952889"/>
            <a:ext cx="8476520" cy="698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000" strike="noStrike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3 clusters of PTV patients were visually identified. Results are generated for 2,3,4 and 5 clusters in a separate xlsx file.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FB9EFF22-1408-488A-BDD8-83C82DA9F1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" b="18508"/>
          <a:stretch/>
        </p:blipFill>
        <p:spPr>
          <a:xfrm>
            <a:off x="646556" y="2645192"/>
            <a:ext cx="8306637" cy="341376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5F7A67-6CBA-48FE-ADA1-07FAD79594B1}"/>
              </a:ext>
            </a:extLst>
          </p:cNvPr>
          <p:cNvCxnSpPr>
            <a:cxnSpLocks/>
          </p:cNvCxnSpPr>
          <p:nvPr/>
        </p:nvCxnSpPr>
        <p:spPr>
          <a:xfrm>
            <a:off x="646556" y="2861528"/>
            <a:ext cx="0" cy="30312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5D06474-55BB-4247-8A89-8953981B39FF}"/>
              </a:ext>
            </a:extLst>
          </p:cNvPr>
          <p:cNvSpPr txBox="1"/>
          <p:nvPr/>
        </p:nvSpPr>
        <p:spPr>
          <a:xfrm rot="16200000">
            <a:off x="-38192" y="3982720"/>
            <a:ext cx="1061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Abadi Extra Light" panose="020B0204020104020204" pitchFamily="34" charset="0"/>
              </a:rPr>
              <a:t>Height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F17058-4925-4C77-A0FD-A47100102D74}"/>
              </a:ext>
            </a:extLst>
          </p:cNvPr>
          <p:cNvCxnSpPr>
            <a:cxnSpLocks/>
          </p:cNvCxnSpPr>
          <p:nvPr/>
        </p:nvCxnSpPr>
        <p:spPr>
          <a:xfrm flipH="1">
            <a:off x="792480" y="6035040"/>
            <a:ext cx="76606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99F6A7A-409A-409B-BB0C-E0B186F3B4A7}"/>
              </a:ext>
            </a:extLst>
          </p:cNvPr>
          <p:cNvSpPr txBox="1"/>
          <p:nvPr/>
        </p:nvSpPr>
        <p:spPr>
          <a:xfrm>
            <a:off x="4125640" y="6058952"/>
            <a:ext cx="1538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 dirty="0"/>
              <a:t>Patient IDs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9B44B-292F-4366-A885-841E8BF1A51D}"/>
              </a:ext>
            </a:extLst>
          </p:cNvPr>
          <p:cNvSpPr/>
          <p:nvPr/>
        </p:nvSpPr>
        <p:spPr>
          <a:xfrm>
            <a:off x="802641" y="2861528"/>
            <a:ext cx="762000" cy="3051591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61FCEA-2130-41E1-90CD-6C6BB1E2C86E}"/>
              </a:ext>
            </a:extLst>
          </p:cNvPr>
          <p:cNvSpPr/>
          <p:nvPr/>
        </p:nvSpPr>
        <p:spPr>
          <a:xfrm>
            <a:off x="1579277" y="3344063"/>
            <a:ext cx="762000" cy="2569056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4C8EA1-227E-4E8C-BF4D-D1C81A34303A}"/>
              </a:ext>
            </a:extLst>
          </p:cNvPr>
          <p:cNvSpPr/>
          <p:nvPr/>
        </p:nvSpPr>
        <p:spPr>
          <a:xfrm>
            <a:off x="2355912" y="4236720"/>
            <a:ext cx="6141531" cy="1676398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2BF7AF-CAD2-4C1C-A344-C6037B3CAC07}"/>
              </a:ext>
            </a:extLst>
          </p:cNvPr>
          <p:cNvSpPr txBox="1"/>
          <p:nvPr/>
        </p:nvSpPr>
        <p:spPr>
          <a:xfrm>
            <a:off x="1564641" y="3056606"/>
            <a:ext cx="1538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26 patients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C66FEA-C551-4411-AC86-71B99A4465B7}"/>
              </a:ext>
            </a:extLst>
          </p:cNvPr>
          <p:cNvSpPr txBox="1"/>
          <p:nvPr/>
        </p:nvSpPr>
        <p:spPr>
          <a:xfrm>
            <a:off x="792480" y="2581966"/>
            <a:ext cx="1538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 dirty="0"/>
              <a:t>25 patients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B175DA-29BE-4910-8656-4084B73CBFFD}"/>
              </a:ext>
            </a:extLst>
          </p:cNvPr>
          <p:cNvSpPr txBox="1"/>
          <p:nvPr/>
        </p:nvSpPr>
        <p:spPr>
          <a:xfrm>
            <a:off x="7487669" y="3945606"/>
            <a:ext cx="1538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 dirty="0">
                <a:solidFill>
                  <a:schemeClr val="accent3"/>
                </a:solidFill>
              </a:rPr>
              <a:t>206 patients</a:t>
            </a:r>
          </a:p>
        </p:txBody>
      </p:sp>
    </p:spTree>
    <p:extLst>
      <p:ext uri="{BB962C8B-B14F-4D97-AF65-F5344CB8AC3E}">
        <p14:creationId xmlns:p14="http://schemas.microsoft.com/office/powerpoint/2010/main" val="136108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trike="noStrike" spc="-1" dirty="0">
                <a:solidFill>
                  <a:schemeClr val="accent1"/>
                </a:solidFill>
                <a:latin typeface="Abadi Extra Light" panose="020B0604020202020204" pitchFamily="34" charset="0"/>
                <a:cs typeface="Calibri Light" panose="020F0302020204030204" pitchFamily="34" charset="0"/>
              </a:rPr>
              <a:t>Clustering pathways is also a good idea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6DD1674-8CFF-496D-BB35-848AB1A400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4875854"/>
              </p:ext>
            </p:extLst>
          </p:nvPr>
        </p:nvGraphicFramePr>
        <p:xfrm>
          <a:off x="250920" y="2654458"/>
          <a:ext cx="8476520" cy="1457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stomShape 2">
            <a:extLst>
              <a:ext uri="{FF2B5EF4-FFF2-40B4-BE49-F238E27FC236}">
                <a16:creationId xmlns:a16="http://schemas.microsoft.com/office/drawing/2014/main" id="{DC7E9B35-F9B8-4951-A34D-8C42CB95E6DC}"/>
              </a:ext>
            </a:extLst>
          </p:cNvPr>
          <p:cNvSpPr/>
          <p:nvPr/>
        </p:nvSpPr>
        <p:spPr>
          <a:xfrm>
            <a:off x="250920" y="1952889"/>
            <a:ext cx="8476520" cy="7395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It may be useful to find which pathways are “</a:t>
            </a:r>
            <a:r>
              <a:rPr lang="en-US" sz="2000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similar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”, as they may lead to related patients’ behavior or symptoms.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3E9C63-9195-4E73-9AEC-CD714FD1F544}"/>
              </a:ext>
            </a:extLst>
          </p:cNvPr>
          <p:cNvSpPr/>
          <p:nvPr/>
        </p:nvSpPr>
        <p:spPr>
          <a:xfrm>
            <a:off x="223520" y="2786538"/>
            <a:ext cx="4307840" cy="1196182"/>
          </a:xfrm>
          <a:prstGeom prst="round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stomShape 2">
            <a:extLst>
              <a:ext uri="{FF2B5EF4-FFF2-40B4-BE49-F238E27FC236}">
                <a16:creationId xmlns:a16="http://schemas.microsoft.com/office/drawing/2014/main" id="{2D14EFA2-8216-4E8A-9AF8-1060FCBB7BF8}"/>
              </a:ext>
            </a:extLst>
          </p:cNvPr>
          <p:cNvSpPr/>
          <p:nvPr/>
        </p:nvSpPr>
        <p:spPr>
          <a:xfrm>
            <a:off x="665479" y="4448227"/>
            <a:ext cx="3423920" cy="1127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approach for analyzing similarity between variables (pathways) differs from the one for observations (patients)</a:t>
            </a:r>
            <a:endParaRPr lang="en-US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B6E715B-3E15-4DD7-A976-AA0B85455728}"/>
              </a:ext>
            </a:extLst>
          </p:cNvPr>
          <p:cNvSpPr/>
          <p:nvPr/>
        </p:nvSpPr>
        <p:spPr>
          <a:xfrm rot="5400000">
            <a:off x="2223267" y="4148177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70674820-2D7E-4B87-8004-5A94D0E36290}"/>
              </a:ext>
            </a:extLst>
          </p:cNvPr>
          <p:cNvSpPr/>
          <p:nvPr/>
        </p:nvSpPr>
        <p:spPr>
          <a:xfrm>
            <a:off x="7103108" y="4561627"/>
            <a:ext cx="1663702" cy="1127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Pathways could be grouped to recompute patients’ clusters</a:t>
            </a:r>
            <a:endParaRPr lang="en-US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4B0C7BE-AC78-49CD-8D15-1CBA4127918D}"/>
              </a:ext>
            </a:extLst>
          </p:cNvPr>
          <p:cNvSpPr/>
          <p:nvPr/>
        </p:nvSpPr>
        <p:spPr>
          <a:xfrm rot="5400000">
            <a:off x="7780787" y="4148177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stomShape 2">
            <a:extLst>
              <a:ext uri="{FF2B5EF4-FFF2-40B4-BE49-F238E27FC236}">
                <a16:creationId xmlns:a16="http://schemas.microsoft.com/office/drawing/2014/main" id="{E4FEAC20-DE85-4E16-A3C3-EC8C3B30F009}"/>
              </a:ext>
            </a:extLst>
          </p:cNvPr>
          <p:cNvSpPr/>
          <p:nvPr/>
        </p:nvSpPr>
        <p:spPr>
          <a:xfrm>
            <a:off x="4789437" y="4315618"/>
            <a:ext cx="2087881" cy="13739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90000"/>
              </a:lnSpc>
            </a:pP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It facilitates the </a:t>
            </a:r>
            <a:r>
              <a:rPr lang="en-US" b="1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visualization</a:t>
            </a:r>
            <a:r>
              <a:rPr lang="en-US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 of potentially akin pathways</a:t>
            </a:r>
            <a:endParaRPr lang="en-US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D9642F1-9F25-4D9B-A1F0-53F46F348A86}"/>
              </a:ext>
            </a:extLst>
          </p:cNvPr>
          <p:cNvSpPr/>
          <p:nvPr/>
        </p:nvSpPr>
        <p:spPr>
          <a:xfrm rot="5400000">
            <a:off x="5679206" y="4148177"/>
            <a:ext cx="308344" cy="23328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9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D5CC6A05-C22C-4802-A1EA-CCAA33DAAB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4" r="2548" b="35164"/>
          <a:stretch/>
        </p:blipFill>
        <p:spPr>
          <a:xfrm>
            <a:off x="699359" y="3135849"/>
            <a:ext cx="8007761" cy="2709741"/>
          </a:xfrm>
          <a:prstGeom prst="rect">
            <a:avLst/>
          </a:prstGeom>
        </p:spPr>
      </p:pic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Hierarchical clustering for pathways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DA738B8-DA67-4871-B772-B1C599D6C510}"/>
              </a:ext>
            </a:extLst>
          </p:cNvPr>
          <p:cNvSpPr/>
          <p:nvPr/>
        </p:nvSpPr>
        <p:spPr>
          <a:xfrm>
            <a:off x="250920" y="1952889"/>
            <a:ext cx="8476520" cy="698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5F7A67-6CBA-48FE-ADA1-07FAD79594B1}"/>
              </a:ext>
            </a:extLst>
          </p:cNvPr>
          <p:cNvCxnSpPr>
            <a:cxnSpLocks/>
          </p:cNvCxnSpPr>
          <p:nvPr/>
        </p:nvCxnSpPr>
        <p:spPr>
          <a:xfrm>
            <a:off x="626236" y="2770088"/>
            <a:ext cx="0" cy="30312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5D06474-55BB-4247-8A89-8953981B39FF}"/>
              </a:ext>
            </a:extLst>
          </p:cNvPr>
          <p:cNvSpPr txBox="1"/>
          <p:nvPr/>
        </p:nvSpPr>
        <p:spPr>
          <a:xfrm rot="16200000">
            <a:off x="-58512" y="3891280"/>
            <a:ext cx="1061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Abadi Extra Light" panose="020B0204020104020204" pitchFamily="34" charset="0"/>
              </a:rPr>
              <a:t>Height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F17058-4925-4C77-A0FD-A47100102D74}"/>
              </a:ext>
            </a:extLst>
          </p:cNvPr>
          <p:cNvCxnSpPr>
            <a:cxnSpLocks/>
          </p:cNvCxnSpPr>
          <p:nvPr/>
        </p:nvCxnSpPr>
        <p:spPr>
          <a:xfrm flipH="1">
            <a:off x="772160" y="5943600"/>
            <a:ext cx="76606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99F6A7A-409A-409B-BB0C-E0B186F3B4A7}"/>
              </a:ext>
            </a:extLst>
          </p:cNvPr>
          <p:cNvSpPr txBox="1"/>
          <p:nvPr/>
        </p:nvSpPr>
        <p:spPr>
          <a:xfrm>
            <a:off x="4105320" y="5967512"/>
            <a:ext cx="1538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 dirty="0"/>
              <a:t>Pathways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9B44B-292F-4366-A885-841E8BF1A51D}"/>
              </a:ext>
            </a:extLst>
          </p:cNvPr>
          <p:cNvSpPr/>
          <p:nvPr/>
        </p:nvSpPr>
        <p:spPr>
          <a:xfrm>
            <a:off x="782321" y="3272944"/>
            <a:ext cx="1879598" cy="2548736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61FCEA-2130-41E1-90CD-6C6BB1E2C86E}"/>
              </a:ext>
            </a:extLst>
          </p:cNvPr>
          <p:cNvSpPr/>
          <p:nvPr/>
        </p:nvSpPr>
        <p:spPr>
          <a:xfrm flipH="1">
            <a:off x="2661919" y="3848473"/>
            <a:ext cx="802641" cy="1973206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4C8EA1-227E-4E8C-BF4D-D1C81A34303A}"/>
              </a:ext>
            </a:extLst>
          </p:cNvPr>
          <p:cNvSpPr/>
          <p:nvPr/>
        </p:nvSpPr>
        <p:spPr>
          <a:xfrm>
            <a:off x="3464560" y="4481917"/>
            <a:ext cx="5012563" cy="133976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stomShape 2">
            <a:extLst>
              <a:ext uri="{FF2B5EF4-FFF2-40B4-BE49-F238E27FC236}">
                <a16:creationId xmlns:a16="http://schemas.microsoft.com/office/drawing/2014/main" id="{A02A7517-3420-4BFC-B4E9-2486AC0DAB95}"/>
              </a:ext>
            </a:extLst>
          </p:cNvPr>
          <p:cNvSpPr/>
          <p:nvPr/>
        </p:nvSpPr>
        <p:spPr>
          <a:xfrm>
            <a:off x="250920" y="1952889"/>
            <a:ext cx="8476520" cy="7293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Dimensionality reduction could be possible by grouping similar pathways into new variables that can improve the natural clustering of the PTV patients.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4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2">
            <a:extLst>
              <a:ext uri="{FF2B5EF4-FFF2-40B4-BE49-F238E27FC236}">
                <a16:creationId xmlns:a16="http://schemas.microsoft.com/office/drawing/2014/main" id="{9A50D345-CE2B-4CFE-9A72-6F4F39072F2E}"/>
              </a:ext>
            </a:extLst>
          </p:cNvPr>
          <p:cNvSpPr/>
          <p:nvPr/>
        </p:nvSpPr>
        <p:spPr>
          <a:xfrm>
            <a:off x="250920" y="1576440"/>
            <a:ext cx="8476520" cy="4475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2400" b="1" spc="-1" dirty="0">
                <a:solidFill>
                  <a:schemeClr val="accent1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Conclusions</a:t>
            </a:r>
            <a:endParaRPr lang="en-US" sz="2400" strike="noStrike" spc="-1" dirty="0">
              <a:solidFill>
                <a:schemeClr val="accent1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DA738B8-DA67-4871-B772-B1C599D6C510}"/>
              </a:ext>
            </a:extLst>
          </p:cNvPr>
          <p:cNvSpPr/>
          <p:nvPr/>
        </p:nvSpPr>
        <p:spPr>
          <a:xfrm>
            <a:off x="250920" y="1952889"/>
            <a:ext cx="8476520" cy="698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CustomShape 2">
            <a:extLst>
              <a:ext uri="{FF2B5EF4-FFF2-40B4-BE49-F238E27FC236}">
                <a16:creationId xmlns:a16="http://schemas.microsoft.com/office/drawing/2014/main" id="{A02A7517-3420-4BFC-B4E9-2486AC0DAB95}"/>
              </a:ext>
            </a:extLst>
          </p:cNvPr>
          <p:cNvSpPr/>
          <p:nvPr/>
        </p:nvSpPr>
        <p:spPr>
          <a:xfrm>
            <a:off x="250920" y="1952889"/>
            <a:ext cx="8476520" cy="33286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Visual examination of hierarchical clustering allowed to explore an initial clue about the natural association of PTV patients.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The clustering exercise is a cyclic process that needs to be externally validated by knowledge experts before changing the statistical approach.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trike="noStrike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Clustering not onl</a:t>
            </a: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y patients but also pathways may result in a more powerful feature engineering scope, useful for future clustering processes.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ea typeface="Tahoma"/>
              <a:cs typeface="Calibri Light" panose="020F0302020204030204" pitchFamily="34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chemeClr val="tx2"/>
                </a:solidFill>
                <a:latin typeface="Abadi Extra Light" panose="020B0604020202020204" pitchFamily="34" charset="0"/>
                <a:ea typeface="Tahoma"/>
                <a:cs typeface="Calibri Light" panose="020F0302020204030204" pitchFamily="34" charset="0"/>
              </a:rPr>
              <a:t>Other methods, such as k-means and LCA were tested, with almost the same results as the ones obtained with hierarchical techniques,</a:t>
            </a:r>
            <a:endParaRPr lang="en-US" sz="2000" strike="noStrike" spc="-1" dirty="0">
              <a:solidFill>
                <a:schemeClr val="tx2"/>
              </a:solidFill>
              <a:latin typeface="Abadi Extra Light" panose="020B0604020202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14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D4D4F"/>
      </a:dk2>
      <a:lt2>
        <a:srgbClr val="AEABAB"/>
      </a:lt2>
      <a:accent1>
        <a:srgbClr val="00AEEF"/>
      </a:accent1>
      <a:accent2>
        <a:srgbClr val="FDB913"/>
      </a:accent2>
      <a:accent3>
        <a:srgbClr val="5AB0AB"/>
      </a:accent3>
      <a:accent4>
        <a:srgbClr val="757070"/>
      </a:accent4>
      <a:accent5>
        <a:srgbClr val="AEABAB"/>
      </a:accent5>
      <a:accent6>
        <a:srgbClr val="5CD2FF"/>
      </a:accent6>
      <a:hlink>
        <a:srgbClr val="5AB0AB"/>
      </a:hlink>
      <a:folHlink>
        <a:srgbClr val="00AEE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D4D4F"/>
      </a:dk2>
      <a:lt2>
        <a:srgbClr val="AEABAB"/>
      </a:lt2>
      <a:accent1>
        <a:srgbClr val="00AEEF"/>
      </a:accent1>
      <a:accent2>
        <a:srgbClr val="FDB913"/>
      </a:accent2>
      <a:accent3>
        <a:srgbClr val="5AB0AB"/>
      </a:accent3>
      <a:accent4>
        <a:srgbClr val="757070"/>
      </a:accent4>
      <a:accent5>
        <a:srgbClr val="AEABAB"/>
      </a:accent5>
      <a:accent6>
        <a:srgbClr val="5CD2FF"/>
      </a:accent6>
      <a:hlink>
        <a:srgbClr val="5AB0AB"/>
      </a:hlink>
      <a:folHlink>
        <a:srgbClr val="00AEE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4604</TotalTime>
  <Words>539</Words>
  <Application>Microsoft Office PowerPoint</Application>
  <PresentationFormat>On-screen Show (4:3)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Abadi Extra Light</vt:lpstr>
      <vt:lpstr>Arial</vt:lpstr>
      <vt:lpstr>Calibri</vt:lpstr>
      <vt:lpstr>Cambria Math</vt:lpstr>
      <vt:lpstr>Symbol</vt:lpstr>
      <vt:lpstr>Tahoma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Beckie Best</dc:creator>
  <dc:description/>
  <cp:lastModifiedBy>Andres Felipe Gomez Lopera</cp:lastModifiedBy>
  <cp:revision>181</cp:revision>
  <cp:lastPrinted>2018-06-11T12:22:51Z</cp:lastPrinted>
  <dcterms:created xsi:type="dcterms:W3CDTF">2018-01-04T09:16:16Z</dcterms:created>
  <dcterms:modified xsi:type="dcterms:W3CDTF">2019-09-06T16:51:11Z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Microsoft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</vt:i4>
  </property>
</Properties>
</file>